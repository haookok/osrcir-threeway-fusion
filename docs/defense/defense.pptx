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TONGJI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同济大学  本科毕业设计（论文）答辩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1E3A8A"/>
                </a:solidFill>
                <a:latin typeface="Microsoft YaHei"/>
              </a:rPr>
              <a:t>基于视觉代理与描述融合的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1E3A8A"/>
                </a:solidFill>
                <a:latin typeface="Microsoft YaHei"/>
              </a:rPr>
              <a:t>零样本组合式图像检索改进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572000"/>
            <a:ext cx="3931920" cy="36576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4B5563"/>
                </a:solidFill>
                <a:latin typeface="Microsoft YaHei"/>
              </a:rPr>
              <a:t>学院：电子与信息工程学院    专业：计算机科学与技术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4B5563"/>
                </a:solidFill>
                <a:latin typeface="Microsoft YaHei"/>
              </a:rPr>
              <a:t>答辩人：杨昊明    指导教师：（填写指导教师）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2026 年 5 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目录 /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011680"/>
            <a:ext cx="685800" cy="685800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0574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688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880360"/>
            <a:ext cx="685800" cy="685800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26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icrosoft YaHei"/>
              </a:rPr>
              <a:t>相关工作与研究问题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375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Related Work &amp; Problems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749040"/>
            <a:ext cx="685800" cy="685800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947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icrosoft YaHei"/>
              </a:rPr>
              <a:t>三路融合方法设计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06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Three-Way Fusion Method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4617720"/>
            <a:ext cx="685800" cy="685800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6634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icrosoft YaHei"/>
              </a:rPr>
              <a:t>实验结果与分析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749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Experiments &amp; Results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5486400"/>
            <a:ext cx="685800" cy="685800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321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icrosoft YaHei"/>
              </a:rPr>
              <a:t>总结与展望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9436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01  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什么是组合式图像检索 (CIR)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9436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4B5563"/>
                </a:solidFill>
                <a:latin typeface="Microsoft YaHei"/>
              </a:rPr>
              <a:t>▸ 输入：一张参考图像 + 一段修改文本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4B5563"/>
                </a:solidFill>
                <a:latin typeface="Microsoft YaHei"/>
              </a:rPr>
              <a:t>▸ 输出：图库中满足"保留关键内容 + 应用修改"的目标图像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4B5563"/>
                </a:solidFill>
                <a:latin typeface="Microsoft YaHei"/>
              </a:rPr>
              <a:t>▸ 例：同款连衣裙改为红色 / 将猫替换为狗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4B5563"/>
                </a:solidFill>
                <a:latin typeface="Microsoft YaHei"/>
              </a:rPr>
              <a:t>▸ 零样本 (ZS-CIR)：不在目标数据集上训练，更贴近实际应用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为什么选择这个课题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94360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多模态大模型快速发展，给 ZS-CIR 带来新机会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OSrCIR (CVPR 2025 Highlight) 为该方向代表工作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实际应用价值大：电商搜索 / 内容创作 / 图像编辑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45720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9202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icrosoft YaHei"/>
              </a:rPr>
              <a:t>任务示意图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560320"/>
            <a:ext cx="1188720" cy="1188720"/>
          </a:xfrm>
          <a:prstGeom prst="rect">
            <a:avLst/>
          </a:prstGeom>
          <a:solidFill>
            <a:srgbClr val="DBEAFE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56032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Microsoft YaHei"/>
              </a:rPr>
              <a:t>参考图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9476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Calibri"/>
              </a:rPr>
              <a:t>(Reference)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365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004A8F"/>
                </a:solidFill>
                <a:latin typeface="Microsoft YaHei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560320"/>
            <a:ext cx="1645920" cy="1188720"/>
          </a:xfrm>
          <a:prstGeom prst="rect">
            <a:avLst/>
          </a:prstGeom>
          <a:solidFill>
            <a:srgbClr val="FEF3C7"/>
          </a:solidFill>
          <a:ln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606040"/>
            <a:ext cx="16459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"change</a:t>
            </a:r>
          </a:p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color to red"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9476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Calibri"/>
              </a:rPr>
              <a:t>(Modification)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2743200"/>
            <a:ext cx="640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004A8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97680"/>
            <a:ext cx="1645920" cy="1645920"/>
          </a:xfrm>
          <a:prstGeom prst="rect">
            <a:avLst/>
          </a:prstGeom>
          <a:solidFill>
            <a:srgbClr val="FEE2E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4297680"/>
            <a:ext cx="1645920" cy="1645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</a:rPr>
              <a:t>目标图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59436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Calibri"/>
              </a:rPr>
              <a:t>(Target)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20624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  <a:latin typeface="Microsoft YaHei"/>
              </a:rPr>
              <a:t>输入 (Query)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02  相关工作与研究问题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相关工作：两条技术路线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Related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48640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① 基于映射的方法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代表：Pic2Word, SEARLE, LinCIR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思路：把图像映射为文本伪词后组合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优点：推理简单、效率高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缺点：视觉信息压缩，细粒度丢失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Microsoft YaHei"/>
              </a:rPr>
              <a:t>② 基于推理的方法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12064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代表：CIReVL, OSrCIR (本文基线)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思路：MLLM 直接推理出目标描述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优点：多模态推理能力强，无需训练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缺点：单次推理、缺乏视觉校验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Microsoft YaHei"/>
              </a:rPr>
              <a:t>现有方法存在的三大问题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⚠ 问题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63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Microsoft YaHei"/>
              </a:rPr>
              <a:t>初始描述缺乏视觉验证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5563"/>
                </a:solidFill>
                <a:latin typeface="Microsoft YaHei"/>
              </a:rPr>
              <a:t>一次性生成，偏差无法纠正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75488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⚠ 问题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1663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Microsoft YaHei"/>
              </a:rPr>
              <a:t>单一路径检索脆弱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6235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5563"/>
                </a:solidFill>
                <a:latin typeface="Microsoft YaHei"/>
              </a:rPr>
              <a:t>CLIP 对文本敏感，单点误差放大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475488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8463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⚠ 问题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1663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Microsoft YaHei"/>
              </a:rPr>
              <a:t>AI 生成图易引入幻觉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6235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5563"/>
                </a:solidFill>
                <a:latin typeface="Microsoft YaHei"/>
              </a:rPr>
              <a:t>直接描述代理图反而加重误差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02  相关工作与研究问题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本文主要工作：三层创新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Three-Layer Innovation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YaHei"/>
              </a:rPr>
              <a:t>针对上述三大问题，本文提出 "三路融合" (Three-Way Fusion) 改进框架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3566160" cy="54864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566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Microsoft YaHei"/>
              </a:rPr>
              <a:t>视觉代理机制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Visual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将初始描述 D₁ 输入文生图模型，生成代理图像，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为检索引入图像空间辅助信号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解决问题 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28600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286000"/>
            <a:ext cx="356616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331720"/>
            <a:ext cx="3566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971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Microsoft YaHei"/>
              </a:rPr>
              <a:t>反幻觉精炼策略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42900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Anti-Hallucination CoT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88620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V7 Prompt 限定代理图仅作"诊断工具"，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切断幻觉细节写入描述的路径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5486400"/>
            <a:ext cx="320040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55321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解决问题 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2286000"/>
            <a:ext cx="35661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2286000"/>
            <a:ext cx="3566160" cy="548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2331720"/>
            <a:ext cx="3566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29718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Microsoft YaHei"/>
              </a:rPr>
              <a:t>描述融合 + 三路融合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42900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Description Ensemble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388620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在 CLIP 特征空间加权融合 D₁/D₂/代理图，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三路信号互补，稳健性强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9" y="5486400"/>
            <a:ext cx="32004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9" y="55321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解决问题 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03  三路融合方法设计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方法总体框架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Overall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8229600" cy="52946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0" y="1737360"/>
            <a:ext cx="283464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icrosoft YaHei"/>
              </a:rPr>
              <a:t>核心公式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286000"/>
            <a:ext cx="2651760" cy="18288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377440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4A8F"/>
                </a:solidFill>
                <a:latin typeface="Microsoft YaHei"/>
              </a:rPr>
              <a:t>文本融合 (β=0.7)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9748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Calibri"/>
              </a:rPr>
              <a:t>f_text = normalize(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Calibri"/>
              </a:rPr>
              <a:t>  β·CLIP(D₁) +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Calibri"/>
              </a:rPr>
              <a:t>  (1-β)·CLIP(D₂))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566160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Microsoft YaHei"/>
              </a:rPr>
              <a:t>三路融合 (α=0.9)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88620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Calibri"/>
              </a:rPr>
              <a:t>score =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Calibri"/>
              </a:rPr>
              <a:t>  α·sim(f_text, g) +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5563"/>
                </a:solidFill>
                <a:latin typeface="Calibri"/>
              </a:rPr>
              <a:t>  (1-α)·sim(CLIP(P),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846320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Microsoft YaHei"/>
              </a:rPr>
              <a:t>参数含义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120640"/>
            <a:ext cx="2651760" cy="1188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4B5563"/>
                </a:solidFill>
                <a:latin typeface="Microsoft YaHei"/>
              </a:rPr>
              <a:t>▸ β: D₁ 与 D₂ 的权重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4B5563"/>
                </a:solidFill>
                <a:latin typeface="Microsoft YaHei"/>
              </a:rPr>
              <a:t>▸ α: 文本与代理图权重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03  三路融合方法设计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创新点 1：视觉代理机制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Visual Proxy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设计动机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Microsoft YaHei"/>
              </a:rPr>
              <a:t>▸ Baseline 的 D₁ 一旦有误，无任何信号帮助纠正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Microsoft YaHei"/>
              </a:rPr>
              <a:t>▸ 把 D₁ 投射到图像空间，获得可视化的中间参照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Microsoft YaHei"/>
              </a:rPr>
              <a:t>▸ 代理图不是目标图，但具有检索价值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Microsoft YaHei"/>
              </a:rPr>
              <a:t>▸ 两个作用：① 提供图像特征  ② 辅助下一轮精炼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实现细节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5486400" cy="1645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文生图模型：MiniMax image-01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输入：D₁ 初始描述文本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输出：512×512 代理图像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成本：约 0.03 元 / 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828800"/>
            <a:ext cx="512064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Microsoft YaHei"/>
              </a:rPr>
              <a:t>初步验证 (FashionIQ dress, 50 样本)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4114800"/>
            <a:ext cx="1188720" cy="1645919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749039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Calibri"/>
              </a:rPr>
              <a:t>18.0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806440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Baseline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(仅 D₁)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3383279"/>
            <a:ext cx="1188720" cy="2377440"/>
          </a:xfrm>
          <a:prstGeom prst="rect">
            <a:avLst/>
          </a:prstGeom>
          <a:solidFill>
            <a:srgbClr val="BBF7D0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01752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alibri"/>
              </a:rPr>
              <a:t>26.0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806440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Plan A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后融合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3749039"/>
            <a:ext cx="1188720" cy="2011679"/>
          </a:xfrm>
          <a:prstGeom prst="rect">
            <a:avLst/>
          </a:prstGeom>
          <a:solidFill>
            <a:srgbClr val="BFDBFE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383279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>
                <a:solidFill>
                  <a:srgbClr val="004A8F"/>
                </a:solidFill>
                <a:latin typeface="Calibri"/>
              </a:rPr>
              <a:t>22.0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806440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Plan B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前融合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774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R@10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5943600"/>
            <a:ext cx="4754880" cy="4114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5989320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Microsoft YaHei"/>
              </a:rPr>
              <a:t>✓ 代理图有效：+8 pp (后融合) / +4 pp (前融合)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03  三路融合方法设计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创新点 2：反幻觉精炼 (V7 Prompt)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Anti-Hallucination CoT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5943600" cy="39529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18288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V7 核心思想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Microsoft YaHei"/>
              </a:rPr>
              <a:t>"代理图只做诊断，不做描述来源"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Microsoft YaHei"/>
              </a:rPr>
              <a:t>三条关键约束：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502920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声明代理图是 AI 生成，可能含幻觉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仅用代理图检查修改是否正确应用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禁止复制代理图中的视觉细节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4B5563"/>
                </a:solidFill>
                <a:latin typeface="Microsoft YaHei"/>
              </a:rPr>
              <a:t>▸ 输出描述尽量简短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5212080"/>
            <a:ext cx="5029200" cy="118872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5303520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⚠ 关键发现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623560"/>
            <a:ext cx="48463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V6 加入更多上下文反而灾难性退化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(CIRR R@10 -17.5)，说明限制信息来源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比增加信息更有效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03  三路融合方法设计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创新点 3：描述融合策略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Description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4A8F"/>
                </a:solidFill>
                <a:latin typeface="Microsoft YaHei"/>
              </a:rPr>
              <a:t>为什么用 "融合" 而非 "替换"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4864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V7 精炼 D₂ 在多数样本上有益，但部分样本信息压缩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直接用 D₂ 替换 D₁ = 全有或全无的决策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在 CLIP 特征空间加权平均 = 软决策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D₂ 表现好 → 融合有增益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D₂ 表现差 → D₁ 主导不退化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303520" cy="47548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Microsoft YaHei"/>
              </a:rPr>
              <a:t>效果对比 (CIRR R@10 vs shirt R@10)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solidFill>
            <a:srgbClr val="E5E7EB"/>
          </a:solidFill>
          <a:ln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6888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Microsoft YaHei"/>
              </a:rPr>
              <a:t>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46888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  <a:latin typeface="Calibri"/>
              </a:rPr>
              <a:t>CIRR R@10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468880"/>
            <a:ext cx="13258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4B5563"/>
                </a:solidFill>
                <a:latin typeface="Calibri"/>
              </a:rPr>
              <a:t>shirt R@10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71800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7180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Baseline (仅 D₁)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97180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67.0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2971800"/>
            <a:ext cx="13258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30.0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474720"/>
            <a:ext cx="4937760" cy="50292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7472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V7 替换 (仅 D₂)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47472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73.5 (+6.5)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474720"/>
            <a:ext cx="13258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26.0 (-4.0)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977640"/>
            <a:ext cx="4937760" cy="50292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977640"/>
            <a:ext cx="219456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V7 +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97764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69.0 (+2.0)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977640"/>
            <a:ext cx="13258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30.5 (+0.5)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37760"/>
            <a:ext cx="47548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04A8F"/>
                </a:solidFill>
                <a:latin typeface="Microsoft YaHei"/>
              </a:rPr>
              <a:t>关键结论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30352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融合 (β=0.7) 牺牲 V7 在 CIRR 上的极端提升，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但换来 shirt 等原本退化的子集的正向提升，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B5563"/>
                </a:solidFill>
                <a:latin typeface="Microsoft YaHei"/>
              </a:rPr>
              <a:t>最终实现 "所有数据集都不退化" 的稳健性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04  实验结果与分析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实验设置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Experimental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4A8F"/>
                </a:solidFill>
                <a:latin typeface="Microsoft YaHei"/>
              </a:rPr>
              <a:t>① 评估数据集 (4 基准 / 9 子任务)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Microsoft YaHei"/>
              </a:rPr>
              <a:t>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860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Microsoft YaHei"/>
              </a:rPr>
              <a:t>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Microsoft YaHei"/>
              </a:rPr>
              <a:t>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Microsoft YaHei"/>
              </a:rPr>
              <a:t>Gallery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548640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FashionIQ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517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服饰检索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6517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3 子集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~6K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6324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CIRCO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0632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开放域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0632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val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06324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123K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74720"/>
            <a:ext cx="548640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7472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CIRR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47472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自然场景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47472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4181 查询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7472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2297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8620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8620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GeneCIS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88620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细粒度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88620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4 子任务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88620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~14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4A8F"/>
                </a:solidFill>
                <a:latin typeface="Microsoft YaHei"/>
              </a:rPr>
              <a:t>② 实现细节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286000"/>
            <a:ext cx="548640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MLLM：Qwen-VL-Max (阿里云 DashScope)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文生图：MiniMax image-01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CLIP：ViT-L/14（与论文一致）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默认参数：β=0.7, α=0.9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GeneCIS：专用 prompt + 任务自适应 α/β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72000"/>
            <a:ext cx="11338560" cy="18288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A8A04"/>
                </a:solidFill>
                <a:latin typeface="Microsoft YaHei"/>
              </a:rPr>
              <a:t>⚠ 关于基线复现的说明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1097280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原论文 OSrCIR 使用 GPT-4o，本工作因 API 可用性限制替换为 Qwen-VL-Max。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因此本工作 Baseline 的绝对数值在部分数据集上低于原论文，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但所有改进实验均基于同一 Baseline，不同方案之间的对比仍然公平。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04  实验结果与分析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主要结果：9 数据集全面提升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Main Results on 9 Benchmarks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155680" cy="562150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5303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004A8F"/>
                </a:solidFill>
                <a:latin typeface="Calibri"/>
              </a:rPr>
              <a:t>9/9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数据集主指标提升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5303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539496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Calibri"/>
              </a:rPr>
              <a:t>35/35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89788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评估指标全部正向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5303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539496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Calibri"/>
              </a:rPr>
              <a:t>+31.2%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89788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CIRCO mAP@10 最大相对提升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5303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539496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1E3A8A"/>
                </a:solidFill>
                <a:latin typeface="Calibri"/>
              </a:rPr>
              <a:t>+84.5%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589788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GeneCIS ch_obj 最大提升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04  实验结果与分析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消融实验 (1)：Prompt 版本演进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Ablation: Prompt Evolution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400800" cy="42569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8288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4A8F"/>
                </a:solidFill>
                <a:latin typeface="Microsoft YaHei"/>
              </a:rPr>
              <a:t>关键洞察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33172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404872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❌ Original / 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715768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代理图细节被复制到描述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24612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319272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icrosoft YaHei"/>
              </a:rPr>
              <a:t>💀 V6 (全上下文)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630168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信息过载，灾难性崩溃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16052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233672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Microsoft YaHei"/>
              </a:rPr>
              <a:t>✅ V7 突破点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544568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代理图仅做诊断，禁复制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074920"/>
            <a:ext cx="4572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5148072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04A8F"/>
                </a:solidFill>
                <a:latin typeface="Microsoft YaHei"/>
              </a:rPr>
              <a:t>⚖ V7 + 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5458968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牺牲极端换稳健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04  实验结果与分析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消融实验 (2)：α/β 参数敏感性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Ablation: α/β Grid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7772400" cy="3596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0" y="182880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Microsoft YaHei"/>
              </a:rPr>
              <a:t>各子集最优参数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286000"/>
            <a:ext cx="3566160" cy="4114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14630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Microsoft YaHei"/>
              </a:rPr>
              <a:t>子集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28600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4B5563"/>
                </a:solidFill>
                <a:latin typeface="Calibri"/>
              </a:rPr>
              <a:t>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228600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4B5563"/>
                </a:solidFill>
                <a:latin typeface="Calibri"/>
              </a:rPr>
              <a:t>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2286000"/>
            <a:ext cx="73152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ΔR@1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697480"/>
            <a:ext cx="356616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14630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icrosoft YaHei"/>
              </a:rPr>
              <a:t>change_object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69748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69748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2697480"/>
            <a:ext cx="73152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"/>
              </a:rPr>
              <a:t>+1.02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108960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108960"/>
            <a:ext cx="14630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icrosoft YaHei"/>
              </a:rPr>
              <a:t>focus_object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10896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310896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3108960"/>
            <a:ext cx="73152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"/>
              </a:rPr>
              <a:t>+0.05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520440"/>
            <a:ext cx="356616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520440"/>
            <a:ext cx="14630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icrosoft YaHei"/>
              </a:rPr>
              <a:t>change_attr.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52044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352044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3520440"/>
            <a:ext cx="73152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"/>
              </a:rPr>
              <a:t>+1.33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931920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931920"/>
            <a:ext cx="14630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icrosoft YaHei"/>
              </a:rPr>
              <a:t>focus_attr.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93192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931920"/>
            <a:ext cx="64008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0.85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3931920"/>
            <a:ext cx="73152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"/>
              </a:rPr>
              <a:t>+1.55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7200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Microsoft YaHei"/>
              </a:rPr>
              <a:t>关键发现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983480"/>
            <a:ext cx="356616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4B5563"/>
                </a:solidFill>
                <a:latin typeface="Microsoft YaHei"/>
              </a:rPr>
              <a:t>▸ 各子集最优参数差异大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4B5563"/>
                </a:solidFill>
                <a:latin typeface="Microsoft YaHei"/>
              </a:rPr>
              <a:t>▸ focus_object β=1 最优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4B5563"/>
                </a:solidFill>
                <a:latin typeface="Microsoft YaHei"/>
              </a:rPr>
              <a:t>▸ 证明 task-adaptive 的价值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05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主要贡献总结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Summary of Contributions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4A8F"/>
                </a:solidFill>
                <a:latin typeface="Microsoft YaHei"/>
              </a:rPr>
              <a:t>本文的主要创新与贡献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1338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286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Microsoft YaHei"/>
              </a:rPr>
              <a:t>🎯 方法创新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23160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提出首个面向 ZS-CIR 的三路融合框架，同时引入视觉代理、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反幻觉精炼和描述融合三个新模块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1338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286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Microsoft YaHei"/>
              </a:rPr>
              <a:t>📊 实验完整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29000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在 4 基准 9 子任务上完成全量评估，35 项指标全部正向提升，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无持平、无退化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11338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2286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Microsoft YaHei"/>
              </a:rPr>
              <a:t>🔬 工程贡献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34840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完整复现并开源 OSrCIR 基线，基于 Qwen-VL-Max 重构 MLLM 流程，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累计花费约 140 元完成全流程实验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1338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79"/>
            <a:ext cx="22860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Microsoft YaHei"/>
              </a:rPr>
              <a:t>💡 理论洞察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440679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证明 "限制信息来源比增加信息更有效" 这一反直觉结论，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</a:rPr>
              <a:t>以及 task-adaptive 参数配置对细粒度任务的必要性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05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"/>
            <a:ext cx="109728" cy="6400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Microsoft YaHei"/>
              </a:rPr>
              <a:t>局限与未来工作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7295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4864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Microsoft YaHei"/>
              </a:rPr>
              <a:t>本文方法的局限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512064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相比基线多一次文生图 + 一次精炼推理，成本更高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参数对任务类型敏感，统一默认不是全局最优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方法性能上限仍受 MLLM 能力影响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Qwen-VL-Max 导致 Baseline 数值低于原论文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icrosoft YaHei"/>
              </a:rPr>
              <a:t>未来可改进方向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120640" cy="3200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查询自适应参数预测（消除人工调参）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使用更强 MLLM（GPT-4o / Claude）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多代理图策略提升视觉信号质量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扩展到有监督 CIR 任务</a:t>
            </a:r>
          </a:p>
          <a:p>
            <a:pPr algn="l">
              <a:lnSpc>
                <a:spcPct val="16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4B5563"/>
                </a:solidFill>
                <a:latin typeface="Microsoft YaHei"/>
              </a:rPr>
              <a:t>▸ 代理图质量评估与过滤机制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6000" b="1">
                <a:solidFill>
                  <a:srgbClr val="1E3A8A"/>
                </a:solidFill>
                <a:latin typeface="Microsoft YaHei"/>
              </a:rPr>
              <a:t>谢 谢 聆 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4B5563"/>
                </a:solidFill>
                <a:latin typeface="Calibri"/>
              </a:rPr>
              <a:t>Thanks for your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931920"/>
            <a:ext cx="2743200" cy="27432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4B5563"/>
                </a:solidFill>
                <a:latin typeface="Microsoft YaHei"/>
              </a:rPr>
              <a:t>敬请各位老师批评指正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486400"/>
            <a:ext cx="121916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Microsoft YaHei"/>
              </a:rPr>
              <a:t>答辩人：杨昊明   |   指导教师：（填写指导教师）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Microsoft YaHei"/>
              </a:rPr>
              <a:t>同济大学 电子与信息工程学院   |   2026 年 5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