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274320"/>
          </a:xfrm>
          <a:prstGeom prst="rect">
            <a:avLst/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457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277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1F3A8A"/>
                </a:solidFill>
                <a:latin typeface="Calibri"/>
              </a:rPr>
              <a:t>TONGJI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277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4B5563"/>
                </a:solidFill>
                <a:latin typeface="微软雅黑"/>
              </a:rPr>
              <a:t>同济大学本科毕业设计（论文）答辩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112772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1F3A8A"/>
                </a:solidFill>
                <a:latin typeface="微软雅黑"/>
              </a:rPr>
              <a:t>基于视觉代理与描述融合的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00400"/>
            <a:ext cx="112772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1F3A8A"/>
                </a:solidFill>
                <a:latin typeface="微软雅黑"/>
              </a:rPr>
              <a:t>零样本组合式图像检索改进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11277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>
                <a:solidFill>
                  <a:srgbClr val="DC2626"/>
                </a:solidFill>
                <a:latin typeface="微软雅黑"/>
              </a:rPr>
              <a:t>— 三路融合：视觉代理 + 反幻觉精炼 + 描述集成 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30352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>
                <a:solidFill>
                  <a:srgbClr val="4B5563"/>
                </a:solidFill>
                <a:latin typeface="微软雅黑"/>
              </a:rPr>
              <a:t>学生姓名：杨昊明    |    学院：电子与信息工程学院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1500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>
                <a:solidFill>
                  <a:srgbClr val="4B5563"/>
                </a:solidFill>
                <a:latin typeface="微软雅黑"/>
              </a:rPr>
              <a:t>专业：计算机科学与技术    |    指导教师：（待填写）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12648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4B5563"/>
                </a:solidFill>
                <a:latin typeface="微软雅黑"/>
              </a:rPr>
              <a:t>2026 年 5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82880"/>
            <a:ext cx="73152" cy="4114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CDBFE"/>
                </a:solidFill>
                <a:latin typeface="微软雅黑"/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972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400" b="1">
                <a:solidFill>
                  <a:srgbClr val="DC2626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46304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F3A8A"/>
                </a:solidFill>
                <a:latin typeface="微软雅黑"/>
              </a:rPr>
              <a:t>研究背景与问题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9202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微软雅黑"/>
              </a:rPr>
              <a:t>组合式图像检索与零样本挑战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371600"/>
            <a:ext cx="10972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400" b="1">
                <a:solidFill>
                  <a:srgbClr val="DC2626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146304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F3A8A"/>
                </a:solidFill>
                <a:latin typeface="微软雅黑"/>
              </a:rPr>
              <a:t>相关工作与基线分析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19202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微软雅黑"/>
              </a:rPr>
              <a:t>OSrCIR 方法回顾与不足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26080"/>
            <a:ext cx="10972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400" b="1">
                <a:solidFill>
                  <a:srgbClr val="DC2626"/>
                </a:solidFill>
                <a:latin typeface="Calibr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01752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F3A8A"/>
                </a:solidFill>
                <a:latin typeface="微软雅黑"/>
              </a:rPr>
              <a:t>三路融合方法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34747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微软雅黑"/>
              </a:rPr>
              <a:t>核心思路与公式推导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926080"/>
            <a:ext cx="10972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400" b="1">
                <a:solidFill>
                  <a:srgbClr val="DC2626"/>
                </a:solidFill>
                <a:latin typeface="Calibri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301752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F3A8A"/>
                </a:solidFill>
                <a:latin typeface="微软雅黑"/>
              </a:rPr>
              <a:t>实验设计与主要结果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34747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微软雅黑"/>
              </a:rPr>
              <a:t>9 个数据集全量验证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480560"/>
            <a:ext cx="10972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400" b="1">
                <a:solidFill>
                  <a:srgbClr val="DC2626"/>
                </a:solidFill>
                <a:latin typeface="Calibri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45720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F3A8A"/>
                </a:solidFill>
                <a:latin typeface="微软雅黑"/>
              </a:rPr>
              <a:t>消融实验与参数分析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50292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微软雅黑"/>
              </a:rPr>
              <a:t>模块贡献与 α/β 网格搜索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480560"/>
            <a:ext cx="10972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400" b="1">
                <a:solidFill>
                  <a:srgbClr val="DC2626"/>
                </a:solidFill>
                <a:latin typeface="Calibri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45720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F3A8A"/>
                </a:solidFill>
                <a:latin typeface="微软雅黑"/>
              </a:rPr>
              <a:t>总结与展望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50292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微软雅黑"/>
              </a:rPr>
              <a:t>主要贡献与未来工作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649224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微软雅黑"/>
              </a:rPr>
              <a:t>2 / 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微软雅黑"/>
              </a:rPr>
              <a:t>基于视觉代理与描述融合的零样本组合式图像检索改进  |  杨昊明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82880"/>
            <a:ext cx="73152" cy="4114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01  研究背景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CDBFE"/>
                </a:solidFill>
                <a:latin typeface="微软雅黑"/>
              </a:rPr>
              <a:t>Composed Image Retrieval:  图像 + 文本 → 目标图像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3A8A"/>
                </a:solidFill>
                <a:latin typeface="微软雅黑"/>
              </a:rPr>
              <a:t>▎ 任务定义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54864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微软雅黑"/>
              </a:rPr>
              <a:t>组合式图像检索 (Composed Image Retrieval, CIR)：</a:t>
            </a:r>
          </a:p>
          <a:p>
            <a:pPr algn="l"/>
            <a:r>
              <a:rPr sz="1400" b="0">
                <a:solidFill>
                  <a:srgbClr val="4B5563"/>
                </a:solidFill>
                <a:latin typeface="微软雅黑"/>
              </a:rPr>
              <a:t>给定一张参考图像和一段修改文本，</a:t>
            </a:r>
          </a:p>
          <a:p>
            <a:pPr algn="l"/>
            <a:r>
              <a:rPr sz="1400" b="0">
                <a:solidFill>
                  <a:srgbClr val="4B5563"/>
                </a:solidFill>
                <a:latin typeface="微软雅黑"/>
              </a:rPr>
              <a:t>从图库中检索符合修改意图的目标图像。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175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3A8A"/>
                </a:solidFill>
                <a:latin typeface="微软雅黑"/>
              </a:rPr>
              <a:t>▎ 零样本设定 (Zero-Shot)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74720"/>
            <a:ext cx="54864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微软雅黑"/>
              </a:rPr>
              <a:t>不依赖目标数据集的监督训练</a:t>
            </a:r>
          </a:p>
          <a:p>
            <a:pPr algn="l"/>
            <a:r>
              <a:rPr sz="1400" b="0">
                <a:solidFill>
                  <a:srgbClr val="4B5563"/>
                </a:solidFill>
                <a:latin typeface="微软雅黑"/>
              </a:rPr>
              <a:t>仅使用预训练视觉语言模型完成检索</a:t>
            </a:r>
          </a:p>
          <a:p>
            <a:pPr algn="l"/>
            <a:r>
              <a:rPr sz="1400" b="0">
                <a:solidFill>
                  <a:srgbClr val="4B5563"/>
                </a:solidFill>
                <a:latin typeface="微软雅黑"/>
              </a:rPr>
              <a:t>更贴近实际部署中的跨域应用需求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9377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3A8A"/>
                </a:solidFill>
                <a:latin typeface="微软雅黑"/>
              </a:rPr>
              <a:t>▎ 应用价值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39496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微软雅黑"/>
              </a:rPr>
              <a:t>电商同款搜索 · 图像编辑辅助 · 内容创作工具</a:t>
            </a:r>
          </a:p>
          <a:p>
            <a:pPr algn="l"/>
            <a:r>
              <a:rPr sz="1400" b="0">
                <a:solidFill>
                  <a:srgbClr val="4B5563"/>
                </a:solidFill>
                <a:latin typeface="微软雅黑"/>
              </a:rPr>
              <a:t>跨模态信息检索 · 智能推荐系统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1188720"/>
            <a:ext cx="5120640" cy="493776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 w="12700">
            <a:solidFill>
              <a:srgbClr val="1F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13716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3A8A"/>
                </a:solidFill>
                <a:latin typeface="微软雅黑"/>
              </a:rPr>
              <a:t>▎ 典型示例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9202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C2626"/>
                </a:solidFill>
                <a:latin typeface="微软雅黑"/>
              </a:rPr>
              <a:t>服饰检索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331720"/>
            <a:ext cx="4754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微软雅黑"/>
              </a:rPr>
              <a:t>输入：一张黑色连衣裙图片</a:t>
            </a:r>
          </a:p>
          <a:p>
            <a:pPr algn="l"/>
            <a:r>
              <a:rPr sz="1300" b="0">
                <a:solidFill>
                  <a:srgbClr val="4B5563"/>
                </a:solidFill>
                <a:latin typeface="微软雅黑"/>
              </a:rPr>
              <a:t>文本："change the color to red"</a:t>
            </a:r>
          </a:p>
          <a:p>
            <a:pPr algn="l"/>
            <a:r>
              <a:rPr sz="1300" b="0">
                <a:solidFill>
                  <a:srgbClr val="4B5563"/>
                </a:solidFill>
                <a:latin typeface="微软雅黑"/>
              </a:rPr>
              <a:t>输出：款式相同但颜色为红色的连衣裙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365760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C2626"/>
                </a:solidFill>
                <a:latin typeface="微软雅黑"/>
              </a:rPr>
              <a:t>自然场景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4069080"/>
            <a:ext cx="47548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微软雅黑"/>
              </a:rPr>
              <a:t>输入：街道上有一辆汽车</a:t>
            </a:r>
          </a:p>
          <a:p>
            <a:pPr algn="l"/>
            <a:r>
              <a:rPr sz="1300" b="0">
                <a:solidFill>
                  <a:srgbClr val="4B5563"/>
                </a:solidFill>
                <a:latin typeface="微软雅黑"/>
              </a:rPr>
              <a:t>文本："replace the car with a bus"</a:t>
            </a:r>
          </a:p>
          <a:p>
            <a:pPr algn="l"/>
            <a:r>
              <a:rPr sz="1300" b="0">
                <a:solidFill>
                  <a:srgbClr val="4B5563"/>
                </a:solidFill>
                <a:latin typeface="微软雅黑"/>
              </a:rPr>
              <a:t>输出：同样街景但车辆变为公交车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53949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C2626"/>
                </a:solidFill>
                <a:latin typeface="微软雅黑"/>
              </a:rPr>
              <a:t>⚠ 难点：既要保留参考图主体，又要准确应用文本修改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649224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微软雅黑"/>
              </a:rPr>
              <a:t>3 / 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微软雅黑"/>
              </a:rPr>
              <a:t>基于视觉代理与描述融合的零样本组合式图像检索改进  |  杨昊明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82880"/>
            <a:ext cx="73152" cy="4114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01  研究现状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CDBFE"/>
                </a:solidFill>
                <a:latin typeface="微软雅黑"/>
              </a:rPr>
              <a:t>零样本组合式图像检索的两条技术路线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5486400" cy="502920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6350">
            <a:solidFill>
              <a:srgbClr val="4B5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801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3A8A"/>
                </a:solidFill>
                <a:latin typeface="微软雅黑"/>
              </a:rPr>
              <a:t>▎ 基于映射的方法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Calibri"/>
              </a:rPr>
              <a:t>Mapping-Based Approaches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945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B5563"/>
                </a:solidFill>
                <a:latin typeface="微软雅黑"/>
              </a:rPr>
              <a:t>核心思路：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5603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微软雅黑"/>
              </a:rPr>
              <a:t>把图像映射到文本空间的伪词向量，与修改文本组合后编码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918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B5563"/>
                </a:solidFill>
                <a:latin typeface="微软雅黑"/>
              </a:rPr>
              <a:t>代表工作：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657600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微软雅黑"/>
              </a:rPr>
              <a:t>• Pic2Word（CVPR 2023）</a:t>
            </a:r>
          </a:p>
          <a:p>
            <a:pPr algn="l"/>
            <a:r>
              <a:rPr sz="1200" b="0">
                <a:solidFill>
                  <a:srgbClr val="4B5563"/>
                </a:solidFill>
                <a:latin typeface="微软雅黑"/>
              </a:rPr>
              <a:t>• SEARLE / iSEARLE（ICCV 2023）</a:t>
            </a:r>
          </a:p>
          <a:p>
            <a:pPr algn="l"/>
            <a:r>
              <a:rPr sz="1200" b="0">
                <a:solidFill>
                  <a:srgbClr val="4B5563"/>
                </a:solidFill>
                <a:latin typeface="微软雅黑"/>
              </a:rPr>
              <a:t>• LinCIR（CVPR 2024）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8463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DC2626"/>
                </a:solidFill>
                <a:latin typeface="微软雅黑"/>
              </a:rPr>
              <a:t>局限：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212080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微软雅黑"/>
              </a:rPr>
              <a:t>图像特征被压缩为文本向量时丢失</a:t>
            </a:r>
          </a:p>
          <a:p>
            <a:pPr algn="l"/>
            <a:r>
              <a:rPr sz="1200" b="0">
                <a:solidFill>
                  <a:srgbClr val="4B5563"/>
                </a:solidFill>
                <a:latin typeface="微软雅黑"/>
              </a:rPr>
              <a:t>细粒度视觉信息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097280"/>
            <a:ext cx="5486400" cy="502920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 w="12700">
            <a:solidFill>
              <a:srgbClr val="1F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12801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3A8A"/>
                </a:solidFill>
                <a:latin typeface="微软雅黑"/>
              </a:rPr>
              <a:t>▎ 基于推理的方法（本文基线）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17373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Calibri"/>
              </a:rPr>
              <a:t>Reasoning-Based Approaches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1945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B5563"/>
                </a:solidFill>
                <a:latin typeface="微软雅黑"/>
              </a:rPr>
              <a:t>核心思路：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5603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微软雅黑"/>
              </a:rPr>
              <a:t>用 MLLM 直接推理目标图像的文本描述，再经 CLIP 检索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2918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B5563"/>
                </a:solidFill>
                <a:latin typeface="微软雅黑"/>
              </a:rPr>
              <a:t>代表工作：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657600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微软雅黑"/>
              </a:rPr>
              <a:t>• CIReVL（ICLR 2024）：两阶段描述推理</a:t>
            </a:r>
          </a:p>
          <a:p>
            <a:pPr algn="l"/>
            <a:r>
              <a:rPr sz="1200" b="0">
                <a:solidFill>
                  <a:srgbClr val="4B5563"/>
                </a:solidFill>
                <a:latin typeface="微软雅黑"/>
              </a:rPr>
              <a:t>• OSrCIR（CVPR 2025 Highlight）：单阶段</a:t>
            </a:r>
          </a:p>
          <a:p>
            <a:pPr algn="l"/>
            <a:r>
              <a:rPr sz="1200" b="0">
                <a:solidFill>
                  <a:srgbClr val="4B5563"/>
                </a:solidFill>
                <a:latin typeface="微软雅黑"/>
              </a:rPr>
              <a:t>   反思式思维链 — 本文基线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48463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DC2626"/>
                </a:solidFill>
                <a:latin typeface="微软雅黑"/>
              </a:rPr>
              <a:t>遗留问题：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5212080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微软雅黑"/>
              </a:rPr>
              <a:t>纯文本推理路径，缺乏视觉验证机制</a:t>
            </a:r>
          </a:p>
          <a:p>
            <a:pPr algn="l"/>
            <a:r>
              <a:rPr sz="1200" b="0">
                <a:solidFill>
                  <a:srgbClr val="4B5563"/>
                </a:solidFill>
                <a:latin typeface="微软雅黑"/>
              </a:rPr>
              <a:t>单点失误难以自我纠正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649224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微软雅黑"/>
              </a:rPr>
              <a:t>4 / 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微软雅黑"/>
              </a:rPr>
              <a:t>基于视觉代理与描述融合的零样本组合式图像检索改进  |  杨昊明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82880"/>
            <a:ext cx="73152" cy="4114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01  现有方法的三个问题  →  本文的三个创新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CDBFE"/>
                </a:solidFill>
                <a:latin typeface="微软雅黑"/>
              </a:rPr>
              <a:t>Problems &amp; Motivations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51560"/>
            <a:ext cx="5303520" cy="1554480"/>
          </a:xfrm>
          <a:prstGeom prst="roundRect">
            <a:avLst>
              <a:gd name="adj" fmla="val 5000"/>
            </a:avLst>
          </a:prstGeom>
          <a:solidFill>
            <a:srgbClr val="FEE2E2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18872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DC2626"/>
                </a:solidFill>
                <a:latin typeface="微软雅黑"/>
              </a:rPr>
              <a:t>① 初始描述缺乏视觉验证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微软雅黑"/>
              </a:rPr>
              <a:t>MLLM 只调用一次，描述一旦偏差便无法纠正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852160" y="1554480"/>
            <a:ext cx="548640" cy="457200"/>
          </a:xfrm>
          <a:prstGeom prst="rightArrow">
            <a:avLst/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92240" y="1051560"/>
            <a:ext cx="5303520" cy="1554480"/>
          </a:xfrm>
          <a:prstGeom prst="roundRect">
            <a:avLst>
              <a:gd name="adj" fmla="val 5000"/>
            </a:avLst>
          </a:prstGeom>
          <a:solidFill>
            <a:srgbClr val="DCFCE7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118872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6A34A"/>
                </a:solidFill>
                <a:latin typeface="微软雅黑"/>
              </a:rPr>
              <a:t>创新1：视觉代理 (Visual Proxy)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1737360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微软雅黑"/>
              </a:rPr>
              <a:t>把描述还原为图像，提供视觉校验与图像空间信号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788920"/>
            <a:ext cx="5303520" cy="1554480"/>
          </a:xfrm>
          <a:prstGeom prst="roundRect">
            <a:avLst>
              <a:gd name="adj" fmla="val 5000"/>
            </a:avLst>
          </a:prstGeom>
          <a:solidFill>
            <a:srgbClr val="FEE2E2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92608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DC2626"/>
                </a:solidFill>
                <a:latin typeface="微软雅黑"/>
              </a:rPr>
              <a:t>② 单一文本路径过于脆弱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474720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微软雅黑"/>
              </a:rPr>
              <a:t>CLIP 对文本表述敏感，单描述易受随机波动影响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852160" y="3291840"/>
            <a:ext cx="548640" cy="457200"/>
          </a:xfrm>
          <a:prstGeom prst="rightArrow">
            <a:avLst/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92240" y="2788920"/>
            <a:ext cx="5303520" cy="1554480"/>
          </a:xfrm>
          <a:prstGeom prst="roundRect">
            <a:avLst>
              <a:gd name="adj" fmla="val 5000"/>
            </a:avLst>
          </a:prstGeom>
          <a:solidFill>
            <a:srgbClr val="DCFCE7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292608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6A34A"/>
                </a:solidFill>
                <a:latin typeface="微软雅黑"/>
              </a:rPr>
              <a:t>创新3：描述融合 (Ensemble)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474720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微软雅黑"/>
              </a:rPr>
              <a:t>CLIP 特征空间加权融合 D₁ 与 D₂，提升稳健性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526279"/>
            <a:ext cx="5303520" cy="1554480"/>
          </a:xfrm>
          <a:prstGeom prst="roundRect">
            <a:avLst>
              <a:gd name="adj" fmla="val 5000"/>
            </a:avLst>
          </a:prstGeom>
          <a:solidFill>
            <a:srgbClr val="FEE2E2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663439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DC2626"/>
                </a:solidFill>
                <a:latin typeface="微软雅黑"/>
              </a:rPr>
              <a:t>③ AI 图像引入幻觉风险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212079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微软雅黑"/>
              </a:rPr>
              <a:t>直接描述代理图会把虚构细节带入目标描述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852160" y="5029199"/>
            <a:ext cx="548640" cy="457200"/>
          </a:xfrm>
          <a:prstGeom prst="rightArrow">
            <a:avLst/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92240" y="4526279"/>
            <a:ext cx="5303520" cy="1554480"/>
          </a:xfrm>
          <a:prstGeom prst="roundRect">
            <a:avLst>
              <a:gd name="adj" fmla="val 5000"/>
            </a:avLst>
          </a:prstGeom>
          <a:solidFill>
            <a:srgbClr val="DCFCE7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0840" y="4663439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6A34A"/>
                </a:solidFill>
                <a:latin typeface="微软雅黑"/>
              </a:rPr>
              <a:t>创新2：反幻觉提示词 (V7 Prompt)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5212079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微软雅黑"/>
              </a:rPr>
              <a:t>代理图仅作诊断工具，禁止复制其视觉细节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0" y="649224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微软雅黑"/>
              </a:rPr>
              <a:t>5 / 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微软雅黑"/>
              </a:rPr>
              <a:t>基于视觉代理与描述融合的零样本组合式图像检索改进  |  杨昊明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82880"/>
            <a:ext cx="73152" cy="4114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02  三路融合方法 — 总体流程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CDBFE"/>
                </a:solidFill>
                <a:latin typeface="微软雅黑"/>
              </a:rPr>
              <a:t>Three-Way Fusion Framework</a:t>
            </a:r>
          </a:p>
        </p:txBody>
      </p:sp>
      <p:pic>
        <p:nvPicPr>
          <p:cNvPr id="6" name="Picture 5" descr="fig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05840"/>
            <a:ext cx="10972800" cy="705959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7150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A8A"/>
                </a:solidFill>
                <a:latin typeface="微软雅黑"/>
              </a:rPr>
              <a:t>▎ 核心思想：文本推理 + 视觉代理 + 精炼描述 三信号互补，告别单一路径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08076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微软雅黑"/>
              </a:rPr>
              <a:t>推理成本增加：多 1 次文生图 + 1 次 MLLM 精炼；但全程无需训练，保留零样本通用性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9224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微软雅黑"/>
              </a:rPr>
              <a:t>6 /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微软雅黑"/>
              </a:rPr>
              <a:t>基于视觉代理与描述融合的零样本组合式图像检索改进  |  杨昊明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82880"/>
            <a:ext cx="73152" cy="4114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02  创新 1 — 视觉代理 (Visual Proxy)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CDBFE"/>
                </a:solidFill>
                <a:latin typeface="微软雅黑"/>
              </a:rPr>
              <a:t>用文生图模型把描述 D₁ 还原为图像，引入视觉空间信号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5486400" cy="502920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 w="10160">
            <a:solidFill>
              <a:srgbClr val="1F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801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3A8A"/>
                </a:solidFill>
                <a:latin typeface="微软雅黑"/>
              </a:rPr>
              <a:t>▎ 执行流程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288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C2626"/>
                </a:solidFill>
                <a:latin typeface="微软雅黑"/>
              </a:rP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9456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微软雅黑"/>
              </a:rPr>
              <a:t>MLLM (Qwen-VL-Max) 生成初始描述 D₁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8346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C2626"/>
                </a:solidFill>
                <a:latin typeface="微软雅黑"/>
              </a:rPr>
              <a:t>Step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00400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微软雅黑"/>
              </a:rPr>
              <a:t>文生图模型 (MiniMax image-01) 将 D₁ 渲染为代理图像 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9319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DC2626"/>
                </a:solidFill>
                <a:latin typeface="微软雅黑"/>
              </a:rPr>
              <a:t>Step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297680"/>
            <a:ext cx="5029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微软雅黑"/>
              </a:rPr>
              <a:t>代理图 P 提供两类作用：</a:t>
            </a:r>
          </a:p>
          <a:p>
            <a:pPr algn="l"/>
            <a:r>
              <a:rPr sz="1300" b="0">
                <a:solidFill>
                  <a:srgbClr val="4B5563"/>
                </a:solidFill>
                <a:latin typeface="微软雅黑"/>
              </a:rPr>
              <a:t>  · 检索阶段贡献图像空间相似度信号</a:t>
            </a:r>
          </a:p>
          <a:p>
            <a:pPr algn="l"/>
            <a:r>
              <a:rPr sz="1300" b="0">
                <a:solidFill>
                  <a:srgbClr val="4B5563"/>
                </a:solidFill>
                <a:latin typeface="微软雅黑"/>
              </a:rPr>
              <a:t>  · 为第二轮精炼提供视觉对照依据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097280"/>
            <a:ext cx="5486400" cy="502920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6350">
            <a:solidFill>
              <a:srgbClr val="4B5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12801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3A8A"/>
                </a:solidFill>
                <a:latin typeface="微软雅黑"/>
              </a:rPr>
              <a:t>▎ 小规模验证 (FashionIQ dress, 50 样本)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1920240"/>
            <a:ext cx="4846320" cy="411480"/>
          </a:xfrm>
          <a:prstGeom prst="roundRect">
            <a:avLst>
              <a:gd name="adj" fmla="val 5000"/>
            </a:avLst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1993392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/>
              </a:rPr>
              <a:t>方法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1993392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dress R@10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0" y="2331720"/>
            <a:ext cx="4846320" cy="41148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317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2404872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微软雅黑"/>
              </a:rPr>
              <a:t>Baseline（纯 D₁）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2404872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微软雅黑"/>
              </a:rPr>
              <a:t>18.0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75120" y="2743200"/>
            <a:ext cx="4846320" cy="411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317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0" y="2816352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微软雅黑"/>
              </a:rPr>
              <a:t>Plan A（代理图后融合，α=0.8）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0" y="2816352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DC2626"/>
                </a:solidFill>
                <a:latin typeface="微软雅黑"/>
              </a:rPr>
              <a:t>26.0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3154680"/>
            <a:ext cx="4846320" cy="41148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317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3227832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微软雅黑"/>
              </a:rPr>
              <a:t>Plan B（代理图前融合送 MLLM）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3227832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DC2626"/>
                </a:solidFill>
                <a:latin typeface="微软雅黑"/>
              </a:rPr>
              <a:t>22.0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75120" y="3566160"/>
            <a:ext cx="4846320" cy="411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317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6560" y="3639312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微软雅黑"/>
              </a:rPr>
              <a:t>🏆 三路融合（A+B 组合）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3639312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DC2626"/>
                </a:solidFill>
                <a:latin typeface="微软雅黑"/>
              </a:rPr>
              <a:t>最终方案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475488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3A8A"/>
                </a:solidFill>
                <a:latin typeface="微软雅黑"/>
              </a:rPr>
              <a:t>▎ 结论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5212080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微软雅黑"/>
              </a:rPr>
              <a:t>代理图虽含噪声，但 +8 pp 的显著提升</a:t>
            </a:r>
          </a:p>
          <a:p>
            <a:pPr algn="l"/>
            <a:r>
              <a:rPr sz="1300" b="0">
                <a:solidFill>
                  <a:srgbClr val="4B5563"/>
                </a:solidFill>
                <a:latin typeface="微软雅黑"/>
              </a:rPr>
              <a:t>证明其检索价值真实存在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0" y="649224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微软雅黑"/>
              </a:rPr>
              <a:t>7 / 22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微软雅黑"/>
              </a:rPr>
              <a:t>基于视觉代理与描述融合的零样本组合式图像检索改进  |  杨昊明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82880"/>
            <a:ext cx="73152" cy="4114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02  创新 2 — 反幻觉精炼 (V7 Anti-Hallucination CoT)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CDBFE"/>
                </a:solidFill>
                <a:latin typeface="微软雅黑"/>
              </a:rPr>
              <a:t>代理图 "只做诊断工具，不做描述来源"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51560"/>
            <a:ext cx="11277295" cy="1097280"/>
          </a:xfrm>
          <a:prstGeom prst="roundRect">
            <a:avLst>
              <a:gd name="adj" fmla="val 5000"/>
            </a:avLst>
          </a:prstGeom>
          <a:solidFill>
            <a:srgbClr val="FEE2E2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188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DC2626"/>
                </a:solidFill>
                <a:latin typeface="微软雅黑"/>
              </a:rPr>
              <a:t>❗ 问题：直接让 MLLM 对比代理图会引入严重幻觉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00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微软雅黑"/>
              </a:rPr>
              <a:t>代理图是 AI 生成产物，其背景/材质/环境细节均为虚构。</a:t>
            </a:r>
          </a:p>
          <a:p>
            <a:pPr algn="l"/>
            <a:r>
              <a:rPr sz="1300" b="0">
                <a:solidFill>
                  <a:srgbClr val="4B5563"/>
                </a:solidFill>
                <a:latin typeface="微软雅黑"/>
              </a:rPr>
              <a:t>若模型把这些细节写入目标描述，检索反而偏离真实目标（早期实验 CIRR R@10 -17.5）。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3A8A"/>
                </a:solidFill>
                <a:latin typeface="微软雅黑"/>
              </a:rPr>
              <a:t>▎ V7 反幻觉策略的三条核心原则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926080"/>
            <a:ext cx="3749039" cy="237744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 w="12700">
            <a:solidFill>
              <a:srgbClr val="1F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06324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DC2626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315468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F3A8A"/>
                </a:solidFill>
                <a:latin typeface="微软雅黑"/>
              </a:rPr>
              <a:t>明确声明代理图是 AI 生成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023360"/>
            <a:ext cx="33832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微软雅黑"/>
              </a:rPr>
              <a:t>在 prompt 中告诉 MLLM 代理图不可信，可能含幻觉细节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2926080"/>
            <a:ext cx="3749039" cy="237744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 w="12700">
            <a:solidFill>
              <a:srgbClr val="1F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306324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DC2626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3560" y="315468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F3A8A"/>
                </a:solidFill>
                <a:latin typeface="微软雅黑"/>
              </a:rPr>
              <a:t>代理图仅用于诊断性检查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4023360"/>
            <a:ext cx="33832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微软雅黑"/>
              </a:rPr>
              <a:t>只检查 D₁ 是否正确应用了修改（颜色/物体/属性）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2926080"/>
            <a:ext cx="3749039" cy="237744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 w="12700">
            <a:solidFill>
              <a:srgbClr val="1F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306324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DC2626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55480" y="315468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F3A8A"/>
                </a:solidFill>
                <a:latin typeface="微软雅黑"/>
              </a:rPr>
              <a:t>强制输出简短描述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4023360"/>
            <a:ext cx="33832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微软雅黑"/>
              </a:rPr>
              <a:t>只保留核心属性，不超过修改文本长度（后针对 GeneCIS 放宽）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532120"/>
            <a:ext cx="11277295" cy="777240"/>
          </a:xfrm>
          <a:prstGeom prst="roundRect">
            <a:avLst>
              <a:gd name="adj" fmla="val 5000"/>
            </a:avLst>
          </a:prstGeom>
          <a:solidFill>
            <a:srgbClr val="DCFCE7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6235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6A34A"/>
                </a:solidFill>
                <a:latin typeface="微软雅黑"/>
              </a:rPr>
              <a:t>🎯 任务重新定义：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943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微软雅黑"/>
              </a:rPr>
              <a:t>从「重新描写目标图像」 →  变为  「在 D₁ 基础上做最小必要修正」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0" y="649224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微软雅黑"/>
              </a:rPr>
              <a:t>8 / 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微软雅黑"/>
              </a:rPr>
              <a:t>基于视觉代理与描述融合的零样本组合式图像检索改进  |  杨昊明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82880"/>
            <a:ext cx="73152" cy="4114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02  Prompt 演进过程 — 从失败中突破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CDBFE"/>
                </a:solidFill>
                <a:latin typeface="微软雅黑"/>
              </a:rPr>
              <a:t>6 个版本迭代，关键洞察：限制信息来源比增加信息更重要</a:t>
            </a:r>
          </a:p>
        </p:txBody>
      </p:sp>
      <p:pic>
        <p:nvPicPr>
          <p:cNvPr id="6" name="Picture 5" descr="fig_prompt_ev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6324490" cy="4206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0" y="11887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3A8A"/>
                </a:solidFill>
                <a:latin typeface="微软雅黑"/>
              </a:rPr>
              <a:t>▎ 关键发现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8288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C2626"/>
                </a:solidFill>
                <a:latin typeface="微软雅黑"/>
              </a:rPr>
              <a:t>• V6 灾难性退化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24028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微软雅黑"/>
              </a:rPr>
              <a:t>把 D₁ 完整上下文送入 MLLM → R@10 跌到 49.5 (-17.5)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0175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6A34A"/>
                </a:solidFill>
                <a:latin typeface="微软雅黑"/>
              </a:rPr>
              <a:t>• V7 突破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42900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微软雅黑"/>
              </a:rPr>
              <a:t>切断「从代理图复制细节」的路径 → +6.5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42062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A8A"/>
                </a:solidFill>
                <a:latin typeface="微软雅黑"/>
              </a:rPr>
              <a:t>• V7 + Ensemble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61772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微软雅黑"/>
              </a:rPr>
              <a:t>牺牲极端提升换取全数据集稳定（见创新3）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532120"/>
            <a:ext cx="11277295" cy="77724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6350">
            <a:solidFill>
              <a:srgbClr val="4B5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6235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3A8A"/>
                </a:solidFill>
                <a:latin typeface="微软雅黑"/>
              </a:rPr>
              <a:t>💡 核心教训：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943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微软雅黑"/>
              </a:rPr>
              <a:t>MLLM 在多模态场景下的幻觉风险要靠 prompt 结构约束，而非依赖模型自身能力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9224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微软雅黑"/>
              </a:rPr>
              <a:t>9 / 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微软雅黑"/>
              </a:rPr>
              <a:t>基于视觉代理与描述融合的零样本组合式图像检索改进  |  杨昊明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82880"/>
            <a:ext cx="73152" cy="4114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02  创新 3 — 描述融合 (Description Ensemble)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CDBFE"/>
                </a:solidFill>
                <a:latin typeface="微软雅黑"/>
              </a:rPr>
              <a:t>在 CLIP 特征空间加权融合 D₁ 与 D₂，防止退化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51560"/>
            <a:ext cx="5669280" cy="521208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6350">
            <a:solidFill>
              <a:srgbClr val="4B5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18872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3A8A"/>
                </a:solidFill>
                <a:latin typeface="微软雅黑"/>
              </a:rPr>
              <a:t>▎ 为什么不直接用 D₂ 替换 D₁？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53035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微软雅黑"/>
              </a:rPr>
              <a:t>V7 精炼虽然对多数样本有益，但：</a:t>
            </a:r>
          </a:p>
          <a:p>
            <a:pPr algn="l"/>
            <a:r>
              <a:rPr sz="1300" b="0">
                <a:solidFill>
                  <a:srgbClr val="4B5563"/>
                </a:solidFill>
                <a:latin typeface="微软雅黑"/>
              </a:rPr>
              <a:t>  · 部分样本存在信息过度压缩</a:t>
            </a:r>
          </a:p>
          <a:p>
            <a:pPr algn="l"/>
            <a:r>
              <a:rPr sz="1300" b="0">
                <a:solidFill>
                  <a:srgbClr val="4B5563"/>
                </a:solidFill>
                <a:latin typeface="微软雅黑"/>
              </a:rPr>
              <a:t>  · FashionIQ shirt 子集会退化 (-4.0)</a:t>
            </a:r>
          </a:p>
          <a:p>
            <a:pPr algn="l"/>
            <a:r>
              <a:rPr sz="1300" b="0">
                <a:solidFill>
                  <a:srgbClr val="4B5563"/>
                </a:solidFill>
                <a:latin typeface="微软雅黑"/>
              </a:rPr>
              <a:t>  · 「全替换」是「全有或全无」决策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918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3A8A"/>
                </a:solidFill>
                <a:latin typeface="微软雅黑"/>
              </a:rPr>
              <a:t>▎ 融合思想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657600"/>
            <a:ext cx="530352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微软雅黑"/>
              </a:rPr>
              <a:t>不替换，改为在 CLIP 特征空间加权平均：</a:t>
            </a:r>
          </a:p>
          <a:p>
            <a:pPr algn="l"/>
            <a:r>
              <a:rPr sz="1300" b="0">
                <a:solidFill>
                  <a:srgbClr val="4B5563"/>
                </a:solidFill>
                <a:latin typeface="微软雅黑"/>
              </a:rPr>
              <a:t>即使 D₂ 在个别样本上失败，</a:t>
            </a:r>
          </a:p>
          <a:p>
            <a:pPr algn="l"/>
            <a:r>
              <a:rPr sz="1300" b="0">
                <a:solidFill>
                  <a:srgbClr val="4B5563"/>
                </a:solidFill>
                <a:latin typeface="微软雅黑"/>
              </a:rPr>
              <a:t>D₁ 的信号仍占主导地位 → 整体稳健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051560"/>
            <a:ext cx="5394960" cy="521208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 w="12700">
            <a:solidFill>
              <a:srgbClr val="1F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1887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3A8A"/>
                </a:solidFill>
                <a:latin typeface="微软雅黑"/>
              </a:rPr>
              <a:t>▎ 融合公式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828800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4B5563"/>
                </a:solidFill>
                <a:latin typeface="Calibri"/>
              </a:rPr>
              <a:t>f_text = normalize(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19456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DC2626"/>
                </a:solidFill>
                <a:latin typeface="Calibri"/>
              </a:rPr>
              <a:t>   β · CLIP(D₁) + (1-β) · CLIP(D₂)  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2004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6A34A"/>
                </a:solidFill>
                <a:latin typeface="微软雅黑"/>
              </a:rPr>
              <a:t>🔑 默认 β = 0.7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749039"/>
            <a:ext cx="50292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微软雅黑"/>
              </a:rPr>
              <a:t>  含义：</a:t>
            </a:r>
          </a:p>
          <a:p>
            <a:pPr algn="l"/>
            <a:r>
              <a:rPr sz="1300" b="0">
                <a:solidFill>
                  <a:srgbClr val="4B5563"/>
                </a:solidFill>
                <a:latin typeface="微软雅黑"/>
              </a:rPr>
              <a:t>  · D₁（原始描述）占 70%</a:t>
            </a:r>
          </a:p>
          <a:p>
            <a:pPr algn="l"/>
            <a:r>
              <a:rPr sz="1300" b="0">
                <a:solidFill>
                  <a:srgbClr val="4B5563"/>
                </a:solidFill>
                <a:latin typeface="微软雅黑"/>
              </a:rPr>
              <a:t>  · D₂（精炼描述）占 30%</a:t>
            </a:r>
          </a:p>
          <a:p>
            <a:pPr algn="l"/>
            <a:r>
              <a:rPr sz="1300" b="0">
                <a:solidFill>
                  <a:srgbClr val="4B5563"/>
                </a:solidFill>
                <a:latin typeface="微软雅黑"/>
              </a:rPr>
              <a:t>  · 以 D₁ 为主，D₂ 辅助修正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5394960"/>
            <a:ext cx="5029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微软雅黑"/>
              </a:rPr>
              <a:t>⚙ β 是可调超参：</a:t>
            </a:r>
          </a:p>
          <a:p>
            <a:pPr algn="l"/>
            <a:r>
              <a:rPr sz="1200" b="0">
                <a:solidFill>
                  <a:srgbClr val="4B5563"/>
                </a:solidFill>
                <a:latin typeface="微软雅黑"/>
              </a:rPr>
              <a:t>  GeneCIS 上可根据任务切换 (0.30 ~ 1.00)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49224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微软雅黑"/>
              </a:rPr>
              <a:t>10 / 22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微软雅黑"/>
              </a:rPr>
              <a:t>基于视觉代理与描述融合的零样本组合式图像检索改进  |  杨昊明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82880"/>
            <a:ext cx="73152" cy="4114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02  三路融合最终公式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CDBFE"/>
                </a:solidFill>
                <a:latin typeface="微软雅黑"/>
              </a:rPr>
              <a:t>文本融合 + 代理图 = 三路信号互补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256032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 w="12700">
            <a:solidFill>
              <a:srgbClr val="1F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80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3A8A"/>
                </a:solidFill>
                <a:latin typeface="微软雅黑"/>
              </a:rPr>
              <a:t>▎ 最终检索得分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4B5563"/>
                </a:solidFill>
                <a:latin typeface="Calibri"/>
              </a:rPr>
              <a:t>score(I_c) =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92024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DC2626"/>
                </a:solidFill>
                <a:latin typeface="Calibri"/>
              </a:rPr>
              <a:t>α · sim(f_text, CLIP(I_c))  +  (1-α) · sim(CLIP(P), CLIP(I_c))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43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Calibri"/>
              </a:rPr>
              <a:t>其中 f_text = normalize(β · CLIP(D₁) + (1-β) · CLIP(D₂))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1546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微软雅黑"/>
              </a:rPr>
              <a:t>默认参数：α = 0.9（文本为主）, β = 0.7（原始描述为主）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31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3A8A"/>
                </a:solidFill>
                <a:latin typeface="微软雅黑"/>
              </a:rPr>
              <a:t>▎ 超参数的物理含义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434840"/>
            <a:ext cx="3749039" cy="192024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52628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6A34A"/>
                </a:solidFill>
                <a:latin typeface="Calibri"/>
              </a:rPr>
              <a:t>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617720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B5563"/>
                </a:solidFill>
                <a:latin typeface="微软雅黑"/>
              </a:rPr>
              <a:t>控制 D₁ 与 D₂ 的权重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212080"/>
            <a:ext cx="3474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微软雅黑"/>
              </a:rPr>
              <a:t>β=1.0  只用原始描述（= OSrCIR）</a:t>
            </a:r>
          </a:p>
          <a:p>
            <a:pPr algn="l"/>
            <a:r>
              <a:rPr sz="1100" b="0">
                <a:solidFill>
                  <a:srgbClr val="4B5563"/>
                </a:solidFill>
                <a:latin typeface="微软雅黑"/>
              </a:rPr>
              <a:t>β=0.0  只用精炼描述（激进）</a:t>
            </a:r>
          </a:p>
          <a:p>
            <a:pPr algn="l"/>
            <a:r>
              <a:rPr sz="1100" b="0">
                <a:solidFill>
                  <a:srgbClr val="4B5563"/>
                </a:solidFill>
                <a:latin typeface="微软雅黑"/>
              </a:rPr>
              <a:t>β=0.7  默认：以 D₁ 兜底，D₂ 修正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4434840"/>
            <a:ext cx="3749039" cy="192024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12700">
            <a:solidFill>
              <a:srgbClr val="1F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452628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1F3A8A"/>
                </a:solidFill>
                <a:latin typeface="Calibri"/>
              </a:rPr>
              <a:t>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4617720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B5563"/>
                </a:solidFill>
                <a:latin typeface="微软雅黑"/>
              </a:rPr>
              <a:t>控制文本 vs 代理图权重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5212080"/>
            <a:ext cx="3474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微软雅黑"/>
              </a:rPr>
              <a:t>α=1.0  只用文本检索</a:t>
            </a:r>
          </a:p>
          <a:p>
            <a:pPr algn="l"/>
            <a:r>
              <a:rPr sz="1100" b="0">
                <a:solidFill>
                  <a:srgbClr val="4B5563"/>
                </a:solidFill>
                <a:latin typeface="微软雅黑"/>
              </a:rPr>
              <a:t>α=0.0  只用代理图检索（过度冒险）</a:t>
            </a:r>
          </a:p>
          <a:p>
            <a:pPr algn="l"/>
            <a:r>
              <a:rPr sz="1100" b="0">
                <a:solidFill>
                  <a:srgbClr val="4B5563"/>
                </a:solidFill>
                <a:latin typeface="微软雅黑"/>
              </a:rPr>
              <a:t>α=0.9  默认：文本为主，图像辅助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4434840"/>
            <a:ext cx="3749039" cy="192024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452628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DC2626"/>
                </a:solidFill>
                <a:latin typeface="Calibri"/>
              </a:rPr>
              <a:t>组合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4617720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B5563"/>
                </a:solidFill>
                <a:latin typeface="微软雅黑"/>
              </a:rPr>
              <a:t>默认 (β=0.7, α=0.9)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5212080"/>
            <a:ext cx="34747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微软雅黑"/>
              </a:rPr>
              <a:t>FashionIQ/CIRCO/CIRR 使用默认</a:t>
            </a:r>
          </a:p>
          <a:p>
            <a:pPr algn="l"/>
            <a:r>
              <a:rPr sz="1100" b="0">
                <a:solidFill>
                  <a:srgbClr val="4B5563"/>
                </a:solidFill>
                <a:latin typeface="微软雅黑"/>
              </a:rPr>
              <a:t>GeneCIS 用 task-adaptive 调优</a:t>
            </a:r>
          </a:p>
          <a:p>
            <a:pPr algn="l"/>
            <a:r>
              <a:rPr sz="1100" b="0">
                <a:solidFill>
                  <a:srgbClr val="4B5563"/>
                </a:solidFill>
                <a:latin typeface="微软雅黑"/>
              </a:rPr>
              <a:t>后续可学习自适应预测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0" y="649224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微软雅黑"/>
              </a:rPr>
              <a:t>11 / 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微软雅黑"/>
              </a:rPr>
              <a:t>基于视觉代理与描述融合的零样本组合式图像检索改进  |  杨昊明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82880"/>
            <a:ext cx="73152" cy="4114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03  实验设置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CDBFE"/>
                </a:solidFill>
                <a:latin typeface="微软雅黑"/>
              </a:rPr>
              <a:t>9 个数据集 · 统一基线 · 公平对比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51560"/>
            <a:ext cx="5669280" cy="283464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 w="10160">
            <a:solidFill>
              <a:srgbClr val="1F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18872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3A8A"/>
                </a:solidFill>
                <a:latin typeface="微软雅黑"/>
              </a:rPr>
              <a:t>▎ 数据集（9 个子任务）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3A8A"/>
                </a:solidFill>
                <a:latin typeface="微软雅黑"/>
              </a:rPr>
              <a:t>• FashionIQ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69164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微软雅黑"/>
              </a:rPr>
              <a:t>dress / shirt / toptee（服饰）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169164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DC2626"/>
                </a:solidFill>
                <a:latin typeface="微软雅黑"/>
              </a:rPr>
              <a:t>3 子集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9456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3A8A"/>
                </a:solidFill>
                <a:latin typeface="微软雅黑"/>
              </a:rPr>
              <a:t>• CIRCO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19456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微软雅黑"/>
              </a:rPr>
              <a:t>开放域 (gallery ≈ 123K)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219456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DC2626"/>
                </a:solidFill>
                <a:latin typeface="微软雅黑"/>
              </a:rPr>
              <a:t>1 子集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6974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3A8A"/>
                </a:solidFill>
                <a:latin typeface="微软雅黑"/>
              </a:rPr>
              <a:t>• CIRR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6974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微软雅黑"/>
              </a:rPr>
              <a:t>自然场景 (gallery ≈ 2.3K)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269748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DC2626"/>
                </a:solidFill>
                <a:latin typeface="微软雅黑"/>
              </a:rPr>
              <a:t>1 子集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20040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3A8A"/>
                </a:solidFill>
                <a:latin typeface="微软雅黑"/>
              </a:rPr>
              <a:t>• GeneCIS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320040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微软雅黑"/>
              </a:rPr>
              <a:t>change/focus × object/attribute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320040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DC2626"/>
                </a:solidFill>
                <a:latin typeface="微软雅黑"/>
              </a:rPr>
              <a:t>4 子集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1051560"/>
            <a:ext cx="5486400" cy="283464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6350">
            <a:solidFill>
              <a:srgbClr val="4B5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11887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3A8A"/>
                </a:solidFill>
                <a:latin typeface="微软雅黑"/>
              </a:rPr>
              <a:t>▎ 实现细节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169164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3A8A"/>
                </a:solidFill>
                <a:latin typeface="微软雅黑"/>
              </a:rPr>
              <a:t>· MLLM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16916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微软雅黑"/>
              </a:rPr>
              <a:t>Qwen-VL-Max (阿里云 DashScope)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210312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3A8A"/>
                </a:solidFill>
                <a:latin typeface="微软雅黑"/>
              </a:rPr>
              <a:t>· 文生图模型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21031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微软雅黑"/>
              </a:rPr>
              <a:t>MiniMax image-01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251460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3A8A"/>
                </a:solidFill>
                <a:latin typeface="微软雅黑"/>
              </a:rPr>
              <a:t>· 视觉编码器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251460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微软雅黑"/>
              </a:rPr>
              <a:t>CLIP ViT-L/14 (OpenAI)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29260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3A8A"/>
                </a:solidFill>
                <a:latin typeface="微软雅黑"/>
              </a:rPr>
              <a:t>· 默认参数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29260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微软雅黑"/>
              </a:rPr>
              <a:t>β=0.7, α=0.9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333756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3A8A"/>
                </a:solidFill>
                <a:latin typeface="微软雅黑"/>
              </a:rPr>
              <a:t>· 评估指标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33375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微软雅黑"/>
              </a:rPr>
              <a:t>Recall@K / mAP@K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069080"/>
            <a:ext cx="11277295" cy="219456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 w="127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206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B45309"/>
                </a:solidFill>
                <a:latin typeface="微软雅黑"/>
              </a:rPr>
              <a:t>⚠ 基线复现说明（关键公平性问题）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46634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微软雅黑"/>
              </a:rPr>
              <a:t>原论文 OSrCIR 使用 GPT-4o；本工作因接口可用性限制改用 Qwen-VL-Max。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50749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B5563"/>
                </a:solidFill>
                <a:latin typeface="微软雅黑"/>
              </a:rPr>
              <a:t>因此 Baseline 数值低于原论文（如 FIQ dress R@10: 29.70 → 15.80），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54864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DC2626"/>
                </a:solidFill>
                <a:latin typeface="微软雅黑"/>
              </a:rPr>
              <a:t>但 所有改进实验均基于相同 Baseline 进行对比，改进幅度的比较仍然公平有效。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5897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微软雅黑"/>
              </a:rPr>
              <a:t>此问题已与导师和学长沟通确认。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0" y="649224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微软雅黑"/>
              </a:rPr>
              <a:t>12 / 22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微软雅黑"/>
              </a:rPr>
              <a:t>基于视觉代理与描述融合的零样本组合式图像检索改进  |  杨昊明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82880"/>
            <a:ext cx="73152" cy="4114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03  全量实验结果 — 9 个数据集主指标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CDBFE"/>
                </a:solidFill>
                <a:latin typeface="微软雅黑"/>
              </a:rPr>
              <a:t>35 / 35 指标全部提升，0 退化</a:t>
            </a:r>
          </a:p>
        </p:txBody>
      </p:sp>
      <p:pic>
        <p:nvPicPr>
          <p:cNvPr id="6" name="Picture 5" descr="fig_main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1247120" cy="56675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5486400"/>
            <a:ext cx="11277295" cy="868680"/>
          </a:xfrm>
          <a:prstGeom prst="roundRect">
            <a:avLst>
              <a:gd name="adj" fmla="val 5000"/>
            </a:avLst>
          </a:prstGeom>
          <a:solidFill>
            <a:srgbClr val="DCFCE7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577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6A34A"/>
                </a:solidFill>
                <a:latin typeface="微软雅黑"/>
              </a:rPr>
              <a:t>🏆 核心成果：35 / 35 指标全部正向提升（无退化、无持平）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943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微软雅黑"/>
              </a:rPr>
              <a:t>· FashionIQ / CIRCO / CIRR 使用默认参数 (β=0.7, α=0.9)    · GeneCIS 使用专用 prompt + task-adaptive 参数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9224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微软雅黑"/>
              </a:rPr>
              <a:t>13 / 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微软雅黑"/>
              </a:rPr>
              <a:t>基于视觉代理与描述融合的零样本组合式图像检索改进  |  杨昊明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82880"/>
            <a:ext cx="73152" cy="4114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03  相对提升幅度对比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CDBFE"/>
                </a:solidFill>
                <a:latin typeface="微软雅黑"/>
              </a:rPr>
              <a:t>GeneCIS 提升最惊人：+47% ~ +85%</a:t>
            </a:r>
          </a:p>
        </p:txBody>
      </p:sp>
      <p:pic>
        <p:nvPicPr>
          <p:cNvPr id="6" name="Picture 5" descr="fig_re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418320" cy="431837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5778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3A8A"/>
                </a:solidFill>
                <a:latin typeface="微软雅黑"/>
              </a:rPr>
              <a:t>▎ 重点解读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893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微软雅黑"/>
              </a:rPr>
              <a:t>• FashionIQ / CIRCO / CIRR：+5% ~ +31% 相对提升，大规模图库仍有效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59893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微软雅黑"/>
              </a:rPr>
              <a:t>• GeneCIS：+47% ~ +85% 相对提升，细粒度小图库场景尤其获益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9224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微软雅黑"/>
              </a:rPr>
              <a:t>14 / 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微软雅黑"/>
              </a:rPr>
              <a:t>基于视觉代理与描述融合的零样本组合式图像检索改进  |  杨昊明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82880"/>
            <a:ext cx="73152" cy="4114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03  FashionIQ 子集详细结果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CDBFE"/>
                </a:solidFill>
                <a:latin typeface="微软雅黑"/>
              </a:rPr>
              <a:t>3 子集 × R@1/5/10/50 = 12 项指标全部提升</a:t>
            </a:r>
          </a:p>
        </p:txBody>
      </p:sp>
      <p:pic>
        <p:nvPicPr>
          <p:cNvPr id="6" name="Picture 5" descr="fig_fashioni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47120" cy="47596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3A8A"/>
                </a:solidFill>
                <a:latin typeface="微软雅黑"/>
              </a:rPr>
              <a:t>▎ 关键数据点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257800"/>
            <a:ext cx="3749039" cy="109728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6350">
            <a:solidFill>
              <a:srgbClr val="1F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34924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C2626"/>
                </a:solidFill>
                <a:latin typeface="微软雅黑"/>
              </a:rPr>
              <a:t>dress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76072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Calibri"/>
              </a:rPr>
              <a:t>R@10: 15.80 → 19.29  (+3.49, +22.1%)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03504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Calibri"/>
              </a:rPr>
              <a:t>R@50: 32.74 → 38.16  (+5.42)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5257800"/>
            <a:ext cx="3749039" cy="109728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6350">
            <a:solidFill>
              <a:srgbClr val="1F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534924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C2626"/>
                </a:solidFill>
                <a:latin typeface="微软雅黑"/>
              </a:rPr>
              <a:t>shirt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576072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Calibri"/>
              </a:rPr>
              <a:t>R@10: 26.00 → 27.35  (+1.35, +5.2%)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03504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Calibri"/>
              </a:rPr>
              <a:t>R@50: 42.94 → 44.84  (+1.90)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5257800"/>
            <a:ext cx="3749039" cy="109728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6350">
            <a:solidFill>
              <a:srgbClr val="1F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534924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DC2626"/>
                </a:solidFill>
                <a:latin typeface="微软雅黑"/>
              </a:rPr>
              <a:t>toptee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576072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Calibri"/>
              </a:rPr>
              <a:t>R@10: 23.09 → 27.35  (+4.26, +18.4%)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603504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Calibri"/>
              </a:rPr>
              <a:t>R@50: 41.19 → 46.44  (+5.25)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49224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微软雅黑"/>
              </a:rPr>
              <a:t>15 / 22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微软雅黑"/>
              </a:rPr>
              <a:t>基于视觉代理与描述融合的零样本组合式图像检索改进  |  杨昊明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82880"/>
            <a:ext cx="73152" cy="4114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03  GeneCIS 专用方案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CDBFE"/>
                </a:solidFill>
                <a:latin typeface="微软雅黑"/>
              </a:rPr>
              <a:t>短文本 + 小图库需要 task-adaptive 策略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5669280" cy="283464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6350">
            <a:solidFill>
              <a:srgbClr val="4B5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8016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3A8A"/>
                </a:solidFill>
                <a:latin typeface="微软雅黑"/>
              </a:rPr>
              <a:t>▎ GeneCIS 与其他数据集的差异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5394960" cy="384048"/>
          </a:xfrm>
          <a:prstGeom prst="roundRect">
            <a:avLst>
              <a:gd name="adj" fmla="val 5000"/>
            </a:avLst>
          </a:prstGeom>
          <a:solidFill>
            <a:srgbClr val="1F3A8A"/>
          </a:solidFill>
          <a:ln w="254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92808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/>
              </a:rPr>
              <a:t>属性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1892808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/>
              </a:rPr>
              <a:t>FIQ / CIRR / CIRCO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892808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/>
              </a:rPr>
              <a:t>GeneCIS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212848"/>
            <a:ext cx="5394960" cy="3840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276856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B5563"/>
                </a:solidFill>
                <a:latin typeface="微软雅黑"/>
              </a:rPr>
              <a:t>修改文本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2276856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微软雅黑"/>
              </a:rPr>
              <a:t>句子 (15~30 词)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276856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微软雅黑"/>
              </a:rPr>
              <a:t>1~2 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596896"/>
            <a:ext cx="5394960" cy="384048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254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660904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B5563"/>
                </a:solidFill>
                <a:latin typeface="微软雅黑"/>
              </a:rPr>
              <a:t>Gallery 大小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3160" y="2660904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微软雅黑"/>
              </a:rPr>
              <a:t>几千 ~ 数十万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660904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微软雅黑"/>
              </a:rPr>
              <a:t>约 14 张/查询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2980944"/>
            <a:ext cx="5394960" cy="3840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044952"/>
            <a:ext cx="1645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B5563"/>
                </a:solidFill>
                <a:latin typeface="微软雅黑"/>
              </a:rPr>
              <a:t>任务特点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23160" y="3044952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微软雅黑"/>
              </a:rPr>
              <a:t>全局语义匹配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04495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微软雅黑"/>
              </a:rPr>
              <a:t>细粒度区分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1097280"/>
            <a:ext cx="5486400" cy="283464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 w="10160">
            <a:solidFill>
              <a:srgbClr val="1F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12801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3A8A"/>
                </a:solidFill>
                <a:latin typeface="微软雅黑"/>
              </a:rPr>
              <a:t>▎ 专用方案改动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18288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DC2626"/>
                </a:solidFill>
                <a:latin typeface="微软雅黑"/>
              </a:rPr>
              <a:t>1. 专用 prompt (V2)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219456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微软雅黑"/>
              </a:rPr>
              <a:t>放宽「描述不超过修改文本」限制；要求输出具体视觉特征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26517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微软雅黑"/>
              </a:rPr>
              <a:t>避免「modified/altered/changed」等模糊词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29260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DC2626"/>
                </a:solidFill>
                <a:latin typeface="微软雅黑"/>
              </a:rPr>
              <a:t>2. 任务自适应 α/β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329184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微软雅黑"/>
              </a:rPr>
              <a:t>每个子任务独立寻优，不用统一默认参数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1148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3A8A"/>
                </a:solidFill>
                <a:latin typeface="微软雅黑"/>
              </a:rPr>
              <a:t>▎ GeneCIS 最终结果 (R@1)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572000"/>
            <a:ext cx="10789920" cy="384048"/>
          </a:xfrm>
          <a:prstGeom prst="roundRect">
            <a:avLst>
              <a:gd name="adj" fmla="val 5000"/>
            </a:avLst>
          </a:prstGeom>
          <a:solidFill>
            <a:srgbClr val="1F3A8A"/>
          </a:solidFill>
          <a:ln w="254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63600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微软雅黑"/>
              </a:rPr>
              <a:t>子集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91840" y="4636008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Baseline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12080" y="4636008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三路融合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4636008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绝对提升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4636008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相对提升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4956048"/>
            <a:ext cx="10789920" cy="384048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254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5020056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B5563"/>
                </a:solidFill>
                <a:latin typeface="微软雅黑"/>
              </a:rPr>
              <a:t>change_object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91840" y="5020056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Calibri"/>
              </a:rPr>
              <a:t>13.83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12080" y="5020056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Calibri"/>
              </a:rPr>
              <a:t>25.51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0" y="5020056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DC2626"/>
                </a:solidFill>
                <a:latin typeface="Calibri"/>
              </a:rPr>
              <a:t>+11.68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5440" y="5020056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Calibri"/>
              </a:rPr>
              <a:t>+84.5%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5340096"/>
            <a:ext cx="10789920" cy="3840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5404104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B5563"/>
                </a:solidFill>
                <a:latin typeface="微软雅黑"/>
              </a:rPr>
              <a:t>focus_object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91840" y="5404104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Calibri"/>
              </a:rPr>
              <a:t>16.02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12080" y="5404104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Calibri"/>
              </a:rPr>
              <a:t>23.62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32320" y="5404104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DC2626"/>
                </a:solidFill>
                <a:latin typeface="Calibri"/>
              </a:rPr>
              <a:t>+7.60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35440" y="5404104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Calibri"/>
              </a:rPr>
              <a:t>+47.4%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8640" y="5724144"/>
            <a:ext cx="10789920" cy="384048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254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578815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B5563"/>
                </a:solidFill>
                <a:latin typeface="微软雅黑"/>
              </a:rPr>
              <a:t>change_attribute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91840" y="5788152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Calibri"/>
              </a:rPr>
              <a:t>12.65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80" y="5788152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Calibri"/>
              </a:rPr>
              <a:t>21.79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32320" y="5788152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DC2626"/>
                </a:solidFill>
                <a:latin typeface="Calibri"/>
              </a:rPr>
              <a:t>+9.14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35440" y="5788152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Calibri"/>
              </a:rPr>
              <a:t>+72.3%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48640" y="6108192"/>
            <a:ext cx="10789920" cy="3840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8640" y="617220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B5563"/>
                </a:solidFill>
                <a:latin typeface="微软雅黑"/>
              </a:rPr>
              <a:t>focus_attribute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91840" y="6172200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Calibri"/>
              </a:rPr>
              <a:t>18.82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212080" y="6172200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Calibri"/>
              </a:rPr>
              <a:t>27.83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32320" y="617220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DC2626"/>
                </a:solidFill>
                <a:latin typeface="Calibri"/>
              </a:rPr>
              <a:t>+9.01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235440" y="617220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Calibri"/>
              </a:rPr>
              <a:t>+47.9%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430000" y="649224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微软雅黑"/>
              </a:rPr>
              <a:t>16 / 22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微软雅黑"/>
              </a:rPr>
              <a:t>基于视觉代理与描述融合的零样本组合式图像检索改进  |  杨昊明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82880"/>
            <a:ext cx="73152" cy="4114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04  α/β 网格搜索 — 不同任务偏好不同参数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CDBFE"/>
                </a:solidFill>
                <a:latin typeface="微软雅黑"/>
              </a:rPr>
              <a:t>证明 task-adaptive 策略的价值</a:t>
            </a:r>
          </a:p>
        </p:txBody>
      </p:sp>
      <p:pic>
        <p:nvPicPr>
          <p:cNvPr id="6" name="Picture 5" descr="fig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11247120" cy="520449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4846320"/>
            <a:ext cx="3749039" cy="155448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 w="6350">
            <a:solidFill>
              <a:srgbClr val="1F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93776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DC2626"/>
                </a:solidFill>
                <a:latin typeface="微软雅黑"/>
              </a:rPr>
              <a:t>change_object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30352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3A8A"/>
                </a:solidFill>
                <a:latin typeface="Calibri"/>
              </a:rPr>
              <a:t>最优 β=0.30, α=0.95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669280"/>
            <a:ext cx="3383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微软雅黑"/>
              </a:rPr>
              <a:t>D₂ 占 70%，几乎不用代理图</a:t>
            </a:r>
          </a:p>
          <a:p>
            <a:pPr algn="l"/>
            <a:r>
              <a:rPr sz="1100" b="0">
                <a:solidFill>
                  <a:srgbClr val="4B5563"/>
                </a:solidFill>
                <a:latin typeface="微软雅黑"/>
              </a:rPr>
              <a:t>→ V7 精炼对物体变化最有效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4846320"/>
            <a:ext cx="3749039" cy="155448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 w="6350">
            <a:solidFill>
              <a:srgbClr val="1F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493776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DC2626"/>
                </a:solidFill>
                <a:latin typeface="微软雅黑"/>
              </a:rPr>
              <a:t>focus_object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530352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3A8A"/>
                </a:solidFill>
                <a:latin typeface="Calibri"/>
              </a:rPr>
              <a:t>最优 β=1.00, α=0.90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5669280"/>
            <a:ext cx="3383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微软雅黑"/>
              </a:rPr>
              <a:t>完全不用 D₂！V7 短描述限制</a:t>
            </a:r>
          </a:p>
          <a:p>
            <a:pPr algn="l"/>
            <a:r>
              <a:rPr sz="1100" b="0">
                <a:solidFill>
                  <a:srgbClr val="4B5563"/>
                </a:solidFill>
                <a:latin typeface="微软雅黑"/>
              </a:rPr>
              <a:t>让 D₂ 退化为 1-3 词，反而是噪声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4846320"/>
            <a:ext cx="3749039" cy="155448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 w="6350">
            <a:solidFill>
              <a:srgbClr val="1F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493776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DC2626"/>
                </a:solidFill>
                <a:latin typeface="微软雅黑"/>
              </a:rPr>
              <a:t>focus_attribute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530352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3A8A"/>
                </a:solidFill>
                <a:latin typeface="Calibri"/>
              </a:rPr>
              <a:t>最优 β=0.60, α=0.85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5669280"/>
            <a:ext cx="3383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微软雅黑"/>
              </a:rPr>
              <a:t>三路信号全发挥作用</a:t>
            </a:r>
          </a:p>
          <a:p>
            <a:pPr algn="l"/>
            <a:r>
              <a:rPr sz="1100" b="0">
                <a:solidFill>
                  <a:srgbClr val="4B5563"/>
                </a:solidFill>
                <a:latin typeface="微软雅黑"/>
              </a:rPr>
              <a:t>代理图贡献 15%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649224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微软雅黑"/>
              </a:rPr>
              <a:t>17 / 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微软雅黑"/>
              </a:rPr>
              <a:t>基于视觉代理与描述融合的零样本组合式图像检索改进  |  杨昊明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82880"/>
            <a:ext cx="73152" cy="4114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04  消融实验 — 各模块独立贡献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CDBFE"/>
                </a:solidFill>
                <a:latin typeface="微软雅黑"/>
              </a:rPr>
              <a:t>三个模块各自解决不同问题，相互互补</a:t>
            </a:r>
          </a:p>
        </p:txBody>
      </p:sp>
      <p:pic>
        <p:nvPicPr>
          <p:cNvPr id="6" name="Picture 5" descr="fig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11247120" cy="598264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57200" y="5212080"/>
            <a:ext cx="11277295" cy="114300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6350">
            <a:solidFill>
              <a:srgbClr val="1F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303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A8A"/>
                </a:solidFill>
                <a:latin typeface="微软雅黑"/>
              </a:rPr>
              <a:t>🔑 核心洞察：单一模块的最优配置在不同数据集上截然相反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7150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微软雅黑"/>
              </a:rPr>
              <a:t>• 在 CIRR 上：V7 精炼是主力（+6.5），Ensemble 反而回调一部分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9893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微软雅黑"/>
              </a:rPr>
              <a:t>• 在 FashionIQ dress 上：V7 单独使用会退化（→13），必须 Ensemble 兜底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9224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微软雅黑"/>
              </a:rPr>
              <a:t>18 / 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微软雅黑"/>
              </a:rPr>
              <a:t>基于视觉代理与描述融合的零样本组合式图像检索改进  |  杨昊明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82880"/>
            <a:ext cx="73152" cy="4114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04  工作量与工程统计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CDBFE"/>
                </a:solidFill>
                <a:latin typeface="微软雅黑"/>
              </a:rPr>
              <a:t>完整实验链路 + 复现 + 创新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43000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19050">
            <a:solidFill>
              <a:srgbClr val="1F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3566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>
                <a:solidFill>
                  <a:srgbClr val="1F3A8A"/>
                </a:solidFill>
                <a:latin typeface="Calibr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  <a:latin typeface="微软雅黑"/>
              </a:rPr>
              <a:t>全量数据集评估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143000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280160"/>
            <a:ext cx="3566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>
                <a:solidFill>
                  <a:srgbClr val="16A34A"/>
                </a:solidFill>
                <a:latin typeface="Calibri"/>
              </a:rPr>
              <a:t>35/35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10312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  <a:latin typeface="微软雅黑"/>
              </a:rPr>
              <a:t>指标全部提升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143000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280160"/>
            <a:ext cx="3566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>
                <a:solidFill>
                  <a:srgbClr val="DC2626"/>
                </a:solidFill>
                <a:latin typeface="Calibri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10312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  <a:latin typeface="微软雅黑"/>
              </a:rPr>
              <a:t>Prompt 版本迭代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788920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19050">
            <a:solidFill>
              <a:srgbClr val="1F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926080"/>
            <a:ext cx="3566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>
                <a:solidFill>
                  <a:srgbClr val="1F3A8A"/>
                </a:solidFill>
                <a:latin typeface="Calibri"/>
              </a:rPr>
              <a:t>56+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7490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  <a:latin typeface="微软雅黑"/>
              </a:rPr>
              <a:t>网格搜索参数组合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60" y="2788920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2926080"/>
            <a:ext cx="3566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>
                <a:solidFill>
                  <a:srgbClr val="16A34A"/>
                </a:solidFill>
                <a:latin typeface="Calibri"/>
              </a:rPr>
              <a:t>2.2w+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7490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  <a:latin typeface="微软雅黑"/>
              </a:rPr>
              <a:t>MLLM API 调用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2788920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2926080"/>
            <a:ext cx="3566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>
                <a:solidFill>
                  <a:srgbClr val="DC2626"/>
                </a:solidFill>
                <a:latin typeface="Calibri"/>
              </a:rPr>
              <a:t>~1.9w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7490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  <a:latin typeface="微软雅黑"/>
              </a:rPr>
              <a:t>代理图生成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572000"/>
            <a:ext cx="11277295" cy="178308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 w="6350">
            <a:solidFill>
              <a:srgbClr val="1F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709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3A8A"/>
                </a:solidFill>
                <a:latin typeface="微软雅黑"/>
              </a:rPr>
              <a:t>▎ 实现细节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1206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8A"/>
                </a:solidFill>
                <a:latin typeface="微软雅黑"/>
              </a:rPr>
              <a:t>· 环境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7480" y="5120640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微软雅黑"/>
              </a:rPr>
              <a:t>Linux (GPU + MLLM API) + Windows (RTX 4060 + CLIP 编码)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4132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8A"/>
                </a:solidFill>
                <a:latin typeface="微软雅黑"/>
              </a:rPr>
              <a:t>· API 花费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97480" y="5413248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微软雅黑"/>
              </a:rPr>
              <a:t>约 140 元 (MLLM ≈90 元 + 文生图 ≈50 元)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705855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8A"/>
                </a:solidFill>
                <a:latin typeface="微软雅黑"/>
              </a:rPr>
              <a:t>· 代码规模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5705855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微软雅黑"/>
              </a:rPr>
              <a:t>src + scripts 共约 5000 行 Python；论文 LaTeX 源 ≈26 页 PDF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99846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A8A"/>
                </a:solidFill>
                <a:latin typeface="微软雅黑"/>
              </a:rPr>
              <a:t>· GitHub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97480" y="5998464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微软雅黑"/>
              </a:rPr>
              <a:t>https://github.com/Haookok/osrcir-threeway-fusion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0" y="649224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微软雅黑"/>
              </a:rPr>
              <a:t>19 / 22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微软雅黑"/>
              </a:rPr>
              <a:t>基于视觉代理与描述融合的零样本组合式图像检索改进  |  杨昊明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82880"/>
            <a:ext cx="73152" cy="4114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05  方法优势与局限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CDBFE"/>
                </a:solidFill>
                <a:latin typeface="微软雅黑"/>
              </a:rPr>
              <a:t>客观评价：做到了什么 &amp; 还有哪些不足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51560"/>
            <a:ext cx="5669280" cy="5212080"/>
          </a:xfrm>
          <a:prstGeom prst="roundRect">
            <a:avLst>
              <a:gd name="adj" fmla="val 5000"/>
            </a:avLst>
          </a:prstGeom>
          <a:solidFill>
            <a:srgbClr val="DCFCE7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18872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6A34A"/>
                </a:solidFill>
                <a:latin typeface="微软雅黑"/>
              </a:rPr>
              <a:t>✓ 方法优势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A8A"/>
                </a:solidFill>
                <a:latin typeface="微软雅黑"/>
              </a:rPr>
              <a:t>• 无需训练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0312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微软雅黑"/>
              </a:rPr>
              <a:t>保持零样本方法的通用性，易于跨数据集部署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06039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A8A"/>
                </a:solidFill>
                <a:latin typeface="微软雅黑"/>
              </a:rPr>
              <a:t>• 视觉校验闭环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971799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微软雅黑"/>
              </a:rPr>
              <a:t>首次在纯文本 ZS-CIR 流程中引入图像空间信号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4747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A8A"/>
                </a:solidFill>
                <a:latin typeface="微软雅黑"/>
              </a:rPr>
              <a:t>• 稳健性保证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84048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微软雅黑"/>
              </a:rPr>
              <a:t>Ensemble 机制让整体不因精炼失误而退化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A8A"/>
                </a:solidFill>
                <a:latin typeface="微软雅黑"/>
              </a:rPr>
              <a:t>• 可扩展架构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70916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微软雅黑"/>
              </a:rPr>
              <a:t>可调 α/β 和 prompt，容纳多种任务类型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212079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A8A"/>
                </a:solidFill>
                <a:latin typeface="微软雅黑"/>
              </a:rPr>
              <a:t>• 可复现性强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577839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微软雅黑"/>
              </a:rPr>
              <a:t>全部代码、数据、日志已开源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1051560"/>
            <a:ext cx="5486400" cy="5212080"/>
          </a:xfrm>
          <a:prstGeom prst="roundRect">
            <a:avLst>
              <a:gd name="adj" fmla="val 5000"/>
            </a:avLst>
          </a:prstGeom>
          <a:solidFill>
            <a:srgbClr val="FEE2E2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11887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DC2626"/>
                </a:solidFill>
                <a:latin typeface="微软雅黑"/>
              </a:rPr>
              <a:t>△ 方法局限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17373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A8A"/>
                </a:solidFill>
                <a:latin typeface="微软雅黑"/>
              </a:rPr>
              <a:t>• 推理成本增加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210312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微软雅黑"/>
              </a:rPr>
              <a:t>多 1 次文生图 + 1 次 MLLM 精炼调用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2606039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A8A"/>
                </a:solidFill>
                <a:latin typeface="微软雅黑"/>
              </a:rPr>
              <a:t>• 参数敏感性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2971799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微软雅黑"/>
              </a:rPr>
              <a:t>统一默认参数并非所有场景最优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34747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A8A"/>
                </a:solidFill>
                <a:latin typeface="微软雅黑"/>
              </a:rPr>
              <a:t>• 依赖 MLLM 能力上限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384048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微软雅黑"/>
              </a:rPr>
              <a:t>本工作因 API 限制使用 Qwen-VL-Max 而非 GPT-4o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43434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A8A"/>
                </a:solidFill>
                <a:latin typeface="微软雅黑"/>
              </a:rPr>
              <a:t>• 代理图噪声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47091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微软雅黑"/>
              </a:rPr>
              <a:t>文生图模型自身的幻觉仍可能影响辅助信号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5212079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A8A"/>
                </a:solidFill>
                <a:latin typeface="微软雅黑"/>
              </a:rPr>
              <a:t>• 评测 split 限制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5577839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微软雅黑"/>
              </a:rPr>
              <a:t>CIRR/CIRCO 使用 val split（OSrCIR test 不公开）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0" y="649224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微软雅黑"/>
              </a:rPr>
              <a:t>20 / 22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微软雅黑"/>
              </a:rPr>
              <a:t>基于视觉代理与描述融合的零样本组合式图像检索改进  |  杨昊明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82880"/>
            <a:ext cx="73152" cy="4114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05  总结与展望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CDBFE"/>
                </a:solidFill>
                <a:latin typeface="微软雅黑"/>
              </a:rPr>
              <a:t>Conclusion &amp; Future 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5669280" cy="521208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 w="12700">
            <a:solidFill>
              <a:srgbClr val="1F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3A8A"/>
                </a:solidFill>
                <a:latin typeface="微软雅黑"/>
              </a:rPr>
              <a:t>▎ 主要贡献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DC2626"/>
                </a:solidFill>
                <a:latin typeface="Calibri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828800"/>
            <a:ext cx="47548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微软雅黑"/>
              </a:rPr>
              <a:t>首次在 ZS-CIR 中提出视觉代理机制，</a:t>
            </a:r>
          </a:p>
          <a:p>
            <a:pPr algn="l"/>
            <a:r>
              <a:rPr sz="1200" b="0">
                <a:solidFill>
                  <a:srgbClr val="4B5563"/>
                </a:solidFill>
                <a:latin typeface="微软雅黑"/>
              </a:rPr>
              <a:t>为纯文本检索流程引入图像空间信号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8803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DC2626"/>
                </a:solidFill>
                <a:latin typeface="Calibri"/>
              </a:rPr>
              <a:t>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926080"/>
            <a:ext cx="47548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微软雅黑"/>
              </a:rPr>
              <a:t>设计 V7 反幻觉提示词，让 AI 生成图像</a:t>
            </a:r>
          </a:p>
          <a:p>
            <a:pPr algn="l"/>
            <a:r>
              <a:rPr sz="1200" b="0">
                <a:solidFill>
                  <a:srgbClr val="4B5563"/>
                </a:solidFill>
                <a:latin typeface="微软雅黑"/>
              </a:rPr>
              <a:t>作为诊断工具而非描述来源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977639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DC2626"/>
                </a:solidFill>
                <a:latin typeface="Calibri"/>
              </a:rPr>
              <a:t>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023359"/>
            <a:ext cx="47548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微软雅黑"/>
              </a:rPr>
              <a:t>提出 CLIP 特征空间的描述融合策略，</a:t>
            </a:r>
          </a:p>
          <a:p>
            <a:pPr algn="l"/>
            <a:r>
              <a:rPr sz="1200" b="0">
                <a:solidFill>
                  <a:srgbClr val="4B5563"/>
                </a:solidFill>
                <a:latin typeface="微软雅黑"/>
              </a:rPr>
              <a:t>同时提升性能并保持稳健性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0749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DC2626"/>
                </a:solidFill>
                <a:latin typeface="Calibri"/>
              </a:rPr>
              <a:t>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5120640"/>
            <a:ext cx="47548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微软雅黑"/>
              </a:rPr>
              <a:t>在 9 个标准数据集上实现 35/35 指标</a:t>
            </a:r>
          </a:p>
          <a:p>
            <a:pPr algn="l"/>
            <a:r>
              <a:rPr sz="1200" b="0">
                <a:solidFill>
                  <a:srgbClr val="4B5563"/>
                </a:solidFill>
                <a:latin typeface="微软雅黑"/>
              </a:rPr>
              <a:t>全部正向提升（无退化、无持平）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097280"/>
            <a:ext cx="5486400" cy="521208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6350">
            <a:solidFill>
              <a:srgbClr val="4B5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12344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3A8A"/>
                </a:solidFill>
                <a:latin typeface="微软雅黑"/>
              </a:rPr>
              <a:t>▎ 未来工作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17830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A34A"/>
                </a:solidFill>
                <a:latin typeface="Calibri"/>
              </a:rPr>
              <a:t>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82880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3A8A"/>
                </a:solidFill>
                <a:latin typeface="微软雅黑"/>
              </a:rPr>
              <a:t>查询自适应参数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2240280"/>
            <a:ext cx="4480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微软雅黑"/>
              </a:rPr>
              <a:t>学习预测器根据 query 自动选择 α/β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8803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A34A"/>
                </a:solidFill>
                <a:latin typeface="Calibri"/>
              </a:rPr>
              <a:t>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292608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3A8A"/>
                </a:solidFill>
                <a:latin typeface="微软雅黑"/>
              </a:rPr>
              <a:t>更强 MLLM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3337560"/>
            <a:ext cx="4480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微软雅黑"/>
              </a:rPr>
              <a:t>接入 GPT-4o/Gemini/Claude 提升 D₁ 上限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3977639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A34A"/>
                </a:solidFill>
                <a:latin typeface="Calibri"/>
              </a:rPr>
              <a:t>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4023359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3A8A"/>
                </a:solidFill>
                <a:latin typeface="微软雅黑"/>
              </a:rPr>
              <a:t>代理图优化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4434839"/>
            <a:ext cx="4480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微软雅黑"/>
              </a:rPr>
              <a:t>多代理图集成、SDXL/Flux 替换、代理图质量过滤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50749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6A34A"/>
                </a:solidFill>
                <a:latin typeface="Calibri"/>
              </a:rPr>
              <a:t>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512064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3A8A"/>
                </a:solidFill>
                <a:latin typeface="微软雅黑"/>
              </a:rPr>
              <a:t>扩展到有监督设定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5532120"/>
            <a:ext cx="4480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微软雅黑"/>
              </a:rPr>
              <a:t>验证框架在有监督 CIR 上的适用性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0" y="649224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微软雅黑"/>
              </a:rPr>
              <a:t>21 / 22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微软雅黑"/>
              </a:rPr>
              <a:t>基于视觉代理与描述融合的零样本组合式图像检索改进  |  杨昊明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3017520"/>
            <a:ext cx="3931920" cy="457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12772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微软雅黑"/>
              </a:rPr>
              <a:t>谢  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12772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>
                <a:solidFill>
                  <a:srgbClr val="CCDBFE"/>
                </a:solidFill>
                <a:latin typeface="Calibri"/>
              </a:rPr>
              <a:t>Thanks for Your Attention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1277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微软雅黑"/>
              </a:rPr>
              <a:t>恳请各位老师批评指正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0"/>
            <a:ext cx="112772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>
                <a:solidFill>
                  <a:srgbClr val="CCDBFE"/>
                </a:solidFill>
                <a:latin typeface="Calibri"/>
              </a:rPr>
              <a:t>Questions &amp; Answers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CCDBFE"/>
                </a:solidFill>
                <a:latin typeface="微软雅黑"/>
              </a:rPr>
              <a:t>杨昊明  |  2026 年 5 月  |  同济大学毕业设计（论文）答辩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