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F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822960"/>
            <a:ext cx="12191695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600" b="1">
                <a:solidFill>
                  <a:srgbClr val="1F4090"/>
                </a:solidFill>
                <a:latin typeface="Times New Roman"/>
              </a:rPr>
              <a:t>TONGJI 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371600"/>
            <a:ext cx="12191695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333333"/>
                </a:solidFill>
                <a:latin typeface="黑体"/>
              </a:rPr>
              <a:t>本科毕业设计（论文）答辩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0" y="2103120"/>
            <a:ext cx="4876495" cy="0"/>
          </a:xfrm>
          <a:prstGeom prst="line">
            <a:avLst/>
          </a:prstGeom>
          <a:ln w="25400">
            <a:solidFill>
              <a:srgbClr val="1F4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2468880"/>
            <a:ext cx="11277295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600" b="1">
                <a:solidFill>
                  <a:srgbClr val="1F4090"/>
                </a:solidFill>
                <a:latin typeface="黑体"/>
              </a:rPr>
              <a:t>基于视觉代理与描述融合的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83280"/>
            <a:ext cx="11277295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600" b="1">
                <a:solidFill>
                  <a:srgbClr val="1F4090"/>
                </a:solidFill>
                <a:latin typeface="黑体"/>
              </a:rPr>
              <a:t>零样本组合式图像检索改进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8056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0">
                <a:solidFill>
                  <a:srgbClr val="808080"/>
                </a:solidFill>
                <a:latin typeface="Times New Roman"/>
              </a:rPr>
              <a:t>Improving Zero-Shot Composed Image Retrieval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0">
                <a:solidFill>
                  <a:srgbClr val="808080"/>
                </a:solidFill>
                <a:latin typeface="Times New Roman"/>
              </a:rPr>
              <a:t>via Visual Proxy and Description Fusion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532120"/>
            <a:ext cx="11277295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  <a:latin typeface="宋体"/>
              </a:rPr>
              <a:t>答辩人：杨昊明     学院：电子与信息工程学院     专业：计算机科学与技术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897880"/>
            <a:ext cx="11277295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  <a:latin typeface="宋体"/>
              </a:rPr>
              <a:t>指导教师：（填写指导教师）         日期：2026 年 5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黑体"/>
              </a:rPr>
              <a:t>目  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37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FFFFFF"/>
                </a:solidFill>
                <a:latin typeface="宋体"/>
              </a:rPr>
              <a:t>Contents</a:t>
            </a:r>
          </a:p>
        </p:txBody>
      </p:sp>
      <p:sp>
        <p:nvSpPr>
          <p:cNvPr id="5" name="Oval 4"/>
          <p:cNvSpPr/>
          <p:nvPr/>
        </p:nvSpPr>
        <p:spPr>
          <a:xfrm>
            <a:off x="1828800" y="1280160"/>
            <a:ext cx="685800" cy="685800"/>
          </a:xfrm>
          <a:prstGeom prst="ellipse">
            <a:avLst/>
          </a:prstGeom>
          <a:solidFill>
            <a:srgbClr val="1F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325880"/>
            <a:ext cx="64008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黑体"/>
              </a:rPr>
              <a:t>研究背景与意义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719072"/>
            <a:ext cx="6400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808080"/>
                </a:solidFill>
                <a:latin typeface="Times New Roman"/>
              </a:rPr>
              <a:t>Background &amp; Motivation</a:t>
            </a:r>
          </a:p>
        </p:txBody>
      </p:sp>
      <p:sp>
        <p:nvSpPr>
          <p:cNvPr id="8" name="Oval 7"/>
          <p:cNvSpPr/>
          <p:nvPr/>
        </p:nvSpPr>
        <p:spPr>
          <a:xfrm>
            <a:off x="1828800" y="2148839"/>
            <a:ext cx="685800" cy="685800"/>
          </a:xfrm>
          <a:prstGeom prst="ellipse">
            <a:avLst/>
          </a:prstGeom>
          <a:solidFill>
            <a:srgbClr val="1F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194559"/>
            <a:ext cx="64008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黑体"/>
              </a:rPr>
              <a:t>国内外研究现状与问题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587751"/>
            <a:ext cx="6400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808080"/>
                </a:solidFill>
                <a:latin typeface="Times New Roman"/>
              </a:rPr>
              <a:t>Related Work &amp; Problem</a:t>
            </a:r>
          </a:p>
        </p:txBody>
      </p:sp>
      <p:sp>
        <p:nvSpPr>
          <p:cNvPr id="11" name="Oval 10"/>
          <p:cNvSpPr/>
          <p:nvPr/>
        </p:nvSpPr>
        <p:spPr>
          <a:xfrm>
            <a:off x="1828800" y="3017520"/>
            <a:ext cx="685800" cy="685800"/>
          </a:xfrm>
          <a:prstGeom prst="ellipse">
            <a:avLst/>
          </a:prstGeom>
          <a:solidFill>
            <a:srgbClr val="1F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063239"/>
            <a:ext cx="64008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黑体"/>
              </a:rPr>
              <a:t>三路融合方法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456432"/>
            <a:ext cx="6400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808080"/>
                </a:solidFill>
                <a:latin typeface="Times New Roman"/>
              </a:rPr>
              <a:t>Three-Way Fusion Method</a:t>
            </a:r>
          </a:p>
        </p:txBody>
      </p:sp>
      <p:sp>
        <p:nvSpPr>
          <p:cNvPr id="14" name="Oval 13"/>
          <p:cNvSpPr/>
          <p:nvPr/>
        </p:nvSpPr>
        <p:spPr>
          <a:xfrm>
            <a:off x="1828800" y="3886200"/>
            <a:ext cx="685800" cy="685800"/>
          </a:xfrm>
          <a:prstGeom prst="ellipse">
            <a:avLst/>
          </a:prstGeom>
          <a:solidFill>
            <a:srgbClr val="1F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931920"/>
            <a:ext cx="64008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黑体"/>
              </a:rPr>
              <a:t>实验结果与分析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4325112"/>
            <a:ext cx="6400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808080"/>
                </a:solidFill>
                <a:latin typeface="Times New Roman"/>
              </a:rPr>
              <a:t>Experiments &amp; Analysis</a:t>
            </a:r>
          </a:p>
        </p:txBody>
      </p:sp>
      <p:sp>
        <p:nvSpPr>
          <p:cNvPr id="17" name="Oval 16"/>
          <p:cNvSpPr/>
          <p:nvPr/>
        </p:nvSpPr>
        <p:spPr>
          <a:xfrm>
            <a:off x="1828800" y="4754879"/>
            <a:ext cx="685800" cy="685800"/>
          </a:xfrm>
          <a:prstGeom prst="ellipse">
            <a:avLst/>
          </a:prstGeom>
          <a:solidFill>
            <a:srgbClr val="1F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800599"/>
            <a:ext cx="64008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黑体"/>
              </a:rPr>
              <a:t>总结与展望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5193792"/>
            <a:ext cx="6400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808080"/>
                </a:solidFill>
                <a:latin typeface="Times New Roman"/>
              </a:rPr>
              <a:t>Conclusion &amp; Future Work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7200" y="6400800"/>
            <a:ext cx="11247120" cy="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  <a:latin typeface="宋体"/>
              </a:rPr>
              <a:t>杨昊明  |  同济大学电子与信息工程学院  |  计算机科学与技术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  <a:latin typeface="Times New Roman"/>
              </a:rPr>
              <a:t>2 /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011680"/>
            <a:ext cx="121916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Times New Roman"/>
              </a:rPr>
              <a:t>PART 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383280"/>
            <a:ext cx="121916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黑体"/>
              </a:rPr>
              <a:t>研究背景与意义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297680"/>
            <a:ext cx="12191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CFD8E3"/>
                </a:solidFill>
                <a:latin typeface="Times New Roman"/>
              </a:rPr>
              <a:t>Background &amp; Motivation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0" y="4937760"/>
            <a:ext cx="210312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黑体"/>
              </a:rPr>
              <a:t>研究背景  |  什么是组合式图像检索？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4090"/>
                </a:solidFill>
                <a:latin typeface="黑体"/>
              </a:rPr>
              <a:t>任务定义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669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333333"/>
                </a:solidFill>
                <a:latin typeface="宋体"/>
              </a:rPr>
              <a:t>●  输入：一张参考图像 + 一段修改文本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333333"/>
                </a:solidFill>
                <a:latin typeface="宋体"/>
              </a:rPr>
              <a:t>●  输出：图库中满足修改意图的目标图像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333333"/>
                </a:solidFill>
                <a:latin typeface="宋体"/>
              </a:rPr>
              <a:t>●  核心：既保留参考图关键内容，又应用文本修改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4090"/>
                </a:solidFill>
                <a:latin typeface="黑体"/>
              </a:rPr>
              <a:t>为什么重要？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5669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333333"/>
                </a:solidFill>
                <a:latin typeface="宋体"/>
              </a:rPr>
              <a:t>●  电商搜索："与这件同款但改成红色"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333333"/>
                </a:solidFill>
                <a:latin typeface="宋体"/>
              </a:rPr>
              <a:t>●  图像编辑检索："保留场景但换成狗"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333333"/>
                </a:solidFill>
                <a:latin typeface="宋体"/>
              </a:rPr>
              <a:t>●  传统检索无法同时理解视觉 + 语言约束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005840"/>
            <a:ext cx="5120640" cy="53035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F4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1143000"/>
            <a:ext cx="47548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4090"/>
                </a:solidFill>
                <a:latin typeface="黑体"/>
              </a:rPr>
              <a:t>▎典型场景举例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737360"/>
            <a:ext cx="4754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宋体"/>
              </a:rPr>
              <a:t>参考图（Reference）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2103120"/>
            <a:ext cx="47548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86000"/>
            <a:ext cx="47548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0">
                <a:solidFill>
                  <a:srgbClr val="808080"/>
                </a:solidFill>
                <a:latin typeface="宋体"/>
              </a:rPr>
              <a:t>[ 一件蓝色连衣裙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17520"/>
            <a:ext cx="4754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宋体"/>
              </a:rPr>
              <a:t>修改文本（Modification）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3383280"/>
            <a:ext cx="4754880" cy="640080"/>
          </a:xfrm>
          <a:prstGeom prst="rect">
            <a:avLst/>
          </a:prstGeom>
          <a:solidFill>
            <a:srgbClr val="FFF7E6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3520440"/>
            <a:ext cx="4754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EA580C"/>
                </a:solidFill>
                <a:latin typeface="宋体"/>
              </a:rPr>
              <a:t>"改成红色，袖子变短"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9052560" y="4114800"/>
            <a:ext cx="365760" cy="365760"/>
          </a:xfrm>
          <a:prstGeom prst="downArrow">
            <a:avLst/>
          </a:prstGeom>
          <a:solidFill>
            <a:srgbClr val="1F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4572000"/>
            <a:ext cx="4754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宋体"/>
              </a:rPr>
              <a:t>目标图像（Target）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4937760"/>
            <a:ext cx="4754880" cy="914400"/>
          </a:xfrm>
          <a:prstGeom prst="rect">
            <a:avLst/>
          </a:prstGeom>
          <a:solidFill>
            <a:srgbClr val="E8F5E8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5166360"/>
            <a:ext cx="47548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16A34A"/>
                </a:solidFill>
                <a:latin typeface="宋体"/>
              </a:rPr>
              <a:t>[ 一件红色短袖连衣裙 ]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7200" y="6400800"/>
            <a:ext cx="11247120" cy="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  <a:latin typeface="宋体"/>
              </a:rPr>
              <a:t>杨昊明  |  同济大学电子与信息工程学院  |  计算机科学与技术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  <a:latin typeface="Times New Roman"/>
              </a:rPr>
              <a:t>4 /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黑体"/>
              </a:rPr>
              <a:t>研究意义  |  零样本组合式图像检索（ZS-CIR）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486400" cy="2286000"/>
          </a:xfrm>
          <a:prstGeom prst="roundRect">
            <a:avLst/>
          </a:prstGeom>
          <a:solidFill>
            <a:srgbClr val="FFF0F0"/>
          </a:solidFill>
          <a:ln w="19050">
            <a:solidFill>
              <a:srgbClr val="C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51206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C82828"/>
                </a:solidFill>
                <a:latin typeface="黑体"/>
              </a:rPr>
              <a:t>监督式 CIR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333333"/>
                </a:solidFill>
                <a:latin typeface="宋体"/>
              </a:rPr>
              <a:t>●  需要目标数据集上的 &lt;三元组&gt; 标注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333333"/>
                </a:solidFill>
                <a:latin typeface="宋体"/>
              </a:rPr>
              <a:t>●  训练成本高，标注稀缺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333333"/>
                </a:solidFill>
                <a:latin typeface="宋体"/>
              </a:rPr>
              <a:t>●  无法跨域泛化到新任务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486400" cy="2286000"/>
          </a:xfrm>
          <a:prstGeom prst="roundRect">
            <a:avLst/>
          </a:prstGeom>
          <a:solidFill>
            <a:srgbClr val="E8F5FF"/>
          </a:solidFill>
          <a:ln w="19050">
            <a:solidFill>
              <a:srgbClr val="1F4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234440"/>
            <a:ext cx="51206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4090"/>
                </a:solidFill>
                <a:latin typeface="黑体"/>
              </a:rPr>
              <a:t>零样本 ZS-CIR（本文关注）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333333"/>
                </a:solidFill>
                <a:latin typeface="宋体"/>
              </a:rPr>
              <a:t>●  不依赖目标数据集训练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333333"/>
                </a:solidFill>
                <a:latin typeface="宋体"/>
              </a:rPr>
              <a:t>●  借助预训练视觉语言模型完成推理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333333"/>
                </a:solidFill>
                <a:latin typeface="宋体"/>
              </a:rPr>
              <a:t>●  更贴合真实跨域场景需求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576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4090"/>
                </a:solidFill>
                <a:latin typeface="黑体"/>
              </a:rPr>
              <a:t>▎本课题定位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14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>
                <a:solidFill>
                  <a:srgbClr val="333333"/>
                </a:solidFill>
                <a:latin typeface="宋体"/>
              </a:rPr>
              <a:t>●  复现并改进 CVPR 2025 Highlight 论文 OSrCIR（基于推理的代表方法）</a:t>
            </a:r>
          </a:p>
          <a:p>
            <a:pPr lvl="1" algn="l">
              <a:lnSpc>
                <a:spcPct val="130000"/>
              </a:lnSpc>
            </a:pPr>
            <a:r>
              <a:rPr sz="1200">
                <a:solidFill>
                  <a:srgbClr val="333333"/>
                </a:solidFill>
                <a:latin typeface="宋体"/>
              </a:rPr>
              <a:t>○  OSrCIR 用多模态大语言模型 (MLLM) 推理目标描述，再用 CLIP 编码检索</a:t>
            </a:r>
          </a:p>
          <a:p>
            <a:pPr algn="l">
              <a:lnSpc>
                <a:spcPct val="130000"/>
              </a:lnSpc>
            </a:pPr>
            <a:r>
              <a:rPr sz="1400">
                <a:solidFill>
                  <a:srgbClr val="333333"/>
                </a:solidFill>
                <a:latin typeface="宋体"/>
              </a:rPr>
              <a:t>●  改进目标：为纯文本路径引入视觉校验 + 降低单点误差影响</a:t>
            </a:r>
          </a:p>
          <a:p>
            <a:pPr algn="l">
              <a:lnSpc>
                <a:spcPct val="130000"/>
              </a:lnSpc>
            </a:pPr>
            <a:r>
              <a:rPr sz="1400">
                <a:solidFill>
                  <a:srgbClr val="333333"/>
                </a:solidFill>
                <a:latin typeface="宋体"/>
              </a:rPr>
              <a:t>●  应用价值：电商搜索、图像编辑、内容创作辅助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6400800"/>
            <a:ext cx="11247120" cy="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  <a:latin typeface="宋体"/>
              </a:rPr>
              <a:t>杨昊明  |  同济大学电子与信息工程学院  |  计算机科学与技术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  <a:latin typeface="Times New Roman"/>
              </a:rPr>
              <a:t>5 /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011680"/>
            <a:ext cx="121916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Times New Roman"/>
              </a:rPr>
              <a:t>PART 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383280"/>
            <a:ext cx="121916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黑体"/>
              </a:rPr>
              <a:t>研究现状与存在的问题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297680"/>
            <a:ext cx="12191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CFD8E3"/>
                </a:solidFill>
                <a:latin typeface="Times New Roman"/>
              </a:rPr>
              <a:t>Related Work &amp; Problem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0" y="4937760"/>
            <a:ext cx="210312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黑体"/>
              </a:rPr>
              <a:t>国内外研究现状  |  两类主流路线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4090"/>
                </a:solidFill>
                <a:latin typeface="黑体"/>
              </a:rPr>
              <a:t>▎路线一：基于映射的方法（Mapping-based）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333333"/>
                </a:solidFill>
                <a:latin typeface="宋体"/>
              </a:rPr>
              <a:t>●  思路：把参考图像映射到文本空间，再与修改文本组合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333333"/>
                </a:solidFill>
                <a:latin typeface="宋体"/>
              </a:rPr>
              <a:t>●  代表：Pic2Word (CVPR'23), SEARLE (ICCV'23), LinCIR (CVPR'24)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333333"/>
                </a:solidFill>
                <a:latin typeface="宋体"/>
              </a:rPr>
              <a:t>●  优势：推理快  |  局限：视觉细节丢失，跨域效果差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71800"/>
            <a:ext cx="11247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4090"/>
                </a:solidFill>
                <a:latin typeface="黑体"/>
              </a:rPr>
              <a:t>▎路线二：基于推理的方法（Reasoning-based，本文基线）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2900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333333"/>
                </a:solidFill>
                <a:latin typeface="宋体"/>
              </a:rPr>
              <a:t>●  思路：利用多模态大语言模型 (MLLM) 直接理解图文并生成目标描述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333333"/>
                </a:solidFill>
                <a:latin typeface="宋体"/>
              </a:rPr>
              <a:t>●  代表：CIReVL (ICLR'24)、OSrCIR (CVPR'25 Highlight，本文基线)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333333"/>
                </a:solidFill>
                <a:latin typeface="宋体"/>
              </a:rPr>
              <a:t>●  OSrCIR 创新：单阶段反思式思维链 (Reflective CoT)，避免两阶段信息损失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333333"/>
                </a:solidFill>
                <a:latin typeface="宋体"/>
              </a:rPr>
              <a:t>●  仍存在的问题 → 下一页详述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40680"/>
            <a:ext cx="1124712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1F4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57784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1F4090"/>
                </a:solidFill>
                <a:latin typeface="宋体"/>
              </a:rPr>
              <a:t>本文以 OSrCIR 为基线展开改进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宋体"/>
              </a:rPr>
              <a:t>基线流程：参考图 + 修改文本 →（MLLM CoT 推理）→ 目标描述 → CLIP 编码 → 检索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6400800"/>
            <a:ext cx="11247120" cy="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  <a:latin typeface="宋体"/>
              </a:rPr>
              <a:t>杨昊明  |  同济大学电子与信息工程学院  |  计算机科学与技术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  <a:latin typeface="Times New Roman"/>
              </a:rPr>
              <a:t>7 /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黑体"/>
              </a:rPr>
              <a:t>现有方法存在的问题  |  三大瓶颈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143000"/>
            <a:ext cx="731520" cy="731520"/>
          </a:xfrm>
          <a:prstGeom prst="ellipse">
            <a:avLst/>
          </a:prstGeom>
          <a:solidFill>
            <a:srgbClr val="C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Times New Roman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005840"/>
            <a:ext cx="100584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C82828"/>
                </a:solidFill>
                <a:latin typeface="黑体"/>
              </a:rPr>
              <a:t>初始描述缺乏视觉验证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508760"/>
            <a:ext cx="10058400" cy="1188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宋体"/>
              </a:rPr>
              <a:t>MLLM 仅凭参考图 + 文本一次推理生成描述，没有图像空间的反馈机制。
若描述对颜色/物体/属性理解错误，后续 CLIP 检索会沿着错误方向走到底。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834640"/>
            <a:ext cx="731520" cy="73152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Times New Roman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697480"/>
            <a:ext cx="100584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EA580C"/>
                </a:solidFill>
                <a:latin typeface="黑体"/>
              </a:rPr>
              <a:t>单一路径检索较脆弱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200400"/>
            <a:ext cx="10058400" cy="1188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宋体"/>
              </a:rPr>
              <a:t>CLIP 对文本表述方式敏感。同一语义的两种表达在特征空间中位置可能相差很大。
只依赖一条文本路径时，整体性能易受单点误差影响。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731520" cy="73152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Times New Roman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4389120"/>
            <a:ext cx="100584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6A34A"/>
                </a:solidFill>
                <a:latin typeface="黑体"/>
              </a:rPr>
              <a:t>AI 生成图像带来的幻觉陷阱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892040"/>
            <a:ext cx="10058400" cy="1188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宋体"/>
              </a:rPr>
              <a:t>想直接让 MLLM 根据代理图重写描述：结果代理图中的虚构背景/材质被写进去，
描述膨胀 1.9 倍，反而远离真实目标（CIRR 性能跌 2.5~17.5 个点）。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" y="6400800"/>
            <a:ext cx="11247120" cy="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  <a:latin typeface="宋体"/>
              </a:rPr>
              <a:t>杨昊明  |  同济大学电子与信息工程学院  |  计算机科学与技术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  <a:latin typeface="Times New Roman"/>
              </a:rPr>
              <a:t>8 /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黑体"/>
              </a:rPr>
              <a:t>研究问题与本文工作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11247120" cy="1188720"/>
          </a:xfrm>
          <a:prstGeom prst="roundRect">
            <a:avLst/>
          </a:prstGeom>
          <a:solidFill>
            <a:srgbClr val="FFF7E0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EA580C"/>
                </a:solidFill>
                <a:latin typeface="黑体"/>
              </a:rPr>
              <a:t>▎关键研究问题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宋体"/>
              </a:rPr>
              <a:t>如何将 AI 生成图像作为 "可用但不可信" 的辅助信号纳入检索流程，同时避免其成为新的误差来源？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4090"/>
                </a:solidFill>
                <a:latin typeface="黑体"/>
              </a:rPr>
              <a:t>▎本文四项主要工作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5486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F4090"/>
                </a:solidFill>
                <a:latin typeface="Times New Roman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063239"/>
            <a:ext cx="29260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333333"/>
                </a:solidFill>
                <a:latin typeface="黑体"/>
              </a:rPr>
              <a:t>视觉代理机制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108960"/>
            <a:ext cx="7498079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宋体"/>
              </a:rPr>
              <a:t>将第一轮描述输入文生图生成代理图，为检索提供图像空间信号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0480"/>
            <a:ext cx="5486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F4090"/>
                </a:solidFill>
                <a:latin typeface="Times New Roman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886200"/>
            <a:ext cx="29260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333333"/>
                </a:solidFill>
                <a:latin typeface="黑体"/>
              </a:rPr>
              <a:t>反幻觉精炼策略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3931920"/>
            <a:ext cx="7498079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宋体"/>
              </a:rPr>
              <a:t>V7 Prompt：代理图只做诊断工具，禁止复制其视觉细节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663440"/>
            <a:ext cx="5486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F4090"/>
                </a:solidFill>
                <a:latin typeface="Times New Roman"/>
              </a:rP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709159"/>
            <a:ext cx="29260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333333"/>
                </a:solidFill>
                <a:latin typeface="黑体"/>
              </a:rPr>
              <a:t>描述融合与三路融合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4754879"/>
            <a:ext cx="7498079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宋体"/>
              </a:rPr>
              <a:t>CLIP 空间加权融合 D₁/D₂/代理图，统一 α/β 参数化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486400"/>
            <a:ext cx="5486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F4090"/>
                </a:solidFill>
                <a:latin typeface="Times New Roman"/>
              </a:rPr>
              <a:t>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532120"/>
            <a:ext cx="29260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333333"/>
                </a:solidFill>
                <a:latin typeface="黑体"/>
              </a:rPr>
              <a:t>GeneCIS 任务自适应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5577840"/>
            <a:ext cx="7498079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宋体"/>
              </a:rPr>
              <a:t>专用 prompt + task-adaptive α/β，解决短文本小图库场景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7200" y="6400800"/>
            <a:ext cx="11247120" cy="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  <a:latin typeface="宋体"/>
              </a:rPr>
              <a:t>杨昊明  |  同济大学电子与信息工程学院  |  计算机科学与技术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  <a:latin typeface="Times New Roman"/>
              </a:rPr>
              <a:t>9 /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011680"/>
            <a:ext cx="121916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Times New Roman"/>
              </a:rPr>
              <a:t>PART 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383280"/>
            <a:ext cx="121916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黑体"/>
              </a:rPr>
              <a:t>三路融合方法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297680"/>
            <a:ext cx="12191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CFD8E3"/>
                </a:solidFill>
                <a:latin typeface="Times New Roman"/>
              </a:rPr>
              <a:t>Three-Way Fusion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0" y="4937760"/>
            <a:ext cx="210312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黑体"/>
              </a:rPr>
              <a:t>方法总体框架  |  Three-Way Fusion Pipeline</a:t>
            </a:r>
          </a:p>
        </p:txBody>
      </p:sp>
      <p:pic>
        <p:nvPicPr>
          <p:cNvPr id="4" name="Picture 3" descr="fi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868680"/>
            <a:ext cx="8686800" cy="55888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418320" y="1005840"/>
            <a:ext cx="26517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1F4090"/>
                </a:solidFill>
                <a:latin typeface="黑体"/>
              </a:rPr>
              <a:t>三阶段流程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333333"/>
                </a:solidFill>
                <a:latin typeface="宋体"/>
              </a:rPr>
              <a:t>●  Stage 1：MLLM 生成 D₁ → 文生图生成代理图 P</a:t>
            </a:r>
          </a:p>
          <a:p>
            <a:pPr algn="l">
              <a:lnSpc>
                <a:spcPct val="120000"/>
              </a:lnSpc>
            </a:pPr>
            <a:r>
              <a:rPr sz="1000">
                <a:solidFill>
                  <a:srgbClr val="333333"/>
                </a:solidFill>
                <a:latin typeface="宋体"/>
              </a:rPr>
              <a:t>●  Stage 2：MLLM V7 + 原图 + 代理图 → 精炼 D₂</a:t>
            </a:r>
          </a:p>
          <a:p>
            <a:pPr algn="l">
              <a:lnSpc>
                <a:spcPct val="120000"/>
              </a:lnSpc>
            </a:pPr>
            <a:r>
              <a:rPr sz="1000">
                <a:solidFill>
                  <a:srgbClr val="333333"/>
                </a:solidFill>
                <a:latin typeface="宋体"/>
              </a:rPr>
              <a:t>●  Retrieval：CLIP 编码三路 → 加权融合 → 排序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18320" y="4297680"/>
            <a:ext cx="2651760" cy="2011680"/>
          </a:xfrm>
          <a:prstGeom prst="roundRect">
            <a:avLst/>
          </a:prstGeom>
          <a:solidFill>
            <a:srgbClr val="F5F7FA"/>
          </a:solidFill>
          <a:ln>
            <a:solidFill>
              <a:srgbClr val="1F4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0" y="4370832"/>
            <a:ext cx="2514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1F4090"/>
                </a:solidFill>
                <a:latin typeface="宋体"/>
              </a:rPr>
              <a:t>核心公式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4709160"/>
            <a:ext cx="2514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onsolas"/>
              </a:rPr>
              <a:t>f_text = β·CLIP(D₁)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4983480"/>
            <a:ext cx="2514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onsolas"/>
              </a:rPr>
              <a:t>       + (1-β)·CLIP(D₂)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5349240"/>
            <a:ext cx="2514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onsolas"/>
              </a:rPr>
              <a:t>score = α·sim(f_text, 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0" y="5623560"/>
            <a:ext cx="2514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onsolas"/>
              </a:rPr>
              <a:t>      + (1-α)·sim(P, 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5943600"/>
            <a:ext cx="2514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C82828"/>
                </a:solidFill>
                <a:latin typeface="宋体"/>
              </a:rPr>
              <a:t>默认 β=0.7, α=0.9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6400800"/>
            <a:ext cx="11247120" cy="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  <a:latin typeface="宋体"/>
              </a:rPr>
              <a:t>杨昊明  |  同济大学电子与信息工程学院  |  计算机科学与技术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  <a:latin typeface="Times New Roman"/>
              </a:rPr>
              <a:t>11 /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黑体"/>
              </a:rPr>
              <a:t>创新点 ①  |  视觉代理机制（Visual Proxy）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4090"/>
                </a:solidFill>
                <a:latin typeface="黑体"/>
              </a:rPr>
              <a:t>▎设计动机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>
                <a:solidFill>
                  <a:srgbClr val="333333"/>
                </a:solidFill>
                <a:latin typeface="宋体"/>
              </a:rPr>
              <a:t>●  D₁ 既要理解意图又要决定检索方向</a:t>
            </a:r>
          </a:p>
          <a:p>
            <a:pPr algn="l">
              <a:lnSpc>
                <a:spcPct val="130000"/>
              </a:lnSpc>
            </a:pPr>
            <a:r>
              <a:rPr sz="1400">
                <a:solidFill>
                  <a:srgbClr val="333333"/>
                </a:solidFill>
                <a:latin typeface="宋体"/>
              </a:rPr>
              <a:t>●  出错后整个流程无视觉验证机制</a:t>
            </a:r>
          </a:p>
          <a:p>
            <a:pPr algn="l">
              <a:lnSpc>
                <a:spcPct val="130000"/>
              </a:lnSpc>
            </a:pPr>
            <a:r>
              <a:rPr sz="1400">
                <a:solidFill>
                  <a:srgbClr val="333333"/>
                </a:solidFill>
                <a:latin typeface="宋体"/>
              </a:rPr>
              <a:t>●  → 把 D₁ "画" 出来投射到图像空间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4090"/>
                </a:solidFill>
                <a:latin typeface="黑体"/>
              </a:rPr>
              <a:t>▎两类作用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5486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333333"/>
                </a:solidFill>
                <a:latin typeface="宋体"/>
              </a:rPr>
              <a:t>●  检索阶段：图像特征 ↔ 文本特征 互补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333333"/>
                </a:solidFill>
                <a:latin typeface="宋体"/>
              </a:rPr>
              <a:t>●  精炼阶段：为 MLLM 提供视觉对照</a:t>
            </a:r>
          </a:p>
          <a:p>
            <a:pPr lvl="1" algn="l">
              <a:lnSpc>
                <a:spcPct val="130000"/>
              </a:lnSpc>
            </a:pPr>
            <a:r>
              <a:rPr sz="1100">
                <a:solidFill>
                  <a:srgbClr val="333333"/>
                </a:solidFill>
                <a:latin typeface="宋体"/>
              </a:rPr>
              <a:t>○  可验证颜色是否改变、物体是否替换、主体是否保留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00584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4090"/>
                </a:solidFill>
                <a:latin typeface="黑体"/>
              </a:rPr>
              <a:t>▎FashionIQ dress 50 样本验证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1554480"/>
          <a:ext cx="54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5715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宋体"/>
                        </a:rPr>
                        <a:t>方法</a:t>
                      </a:r>
                    </a:p>
                  </a:txBody>
                  <a:tcPr>
                    <a:solidFill>
                      <a:srgbClr val="1F4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宋体"/>
                        </a:rPr>
                        <a:t>R@10</a:t>
                      </a:r>
                    </a:p>
                  </a:txBody>
                  <a:tcPr>
                    <a:solidFill>
                      <a:srgbClr val="1F409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00">
                          <a:latin typeface="宋体"/>
                        </a:rPr>
                        <a:t>Baseline（纯 D₁）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宋体"/>
                        </a:rPr>
                        <a:t>18.0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00">
                          <a:latin typeface="宋体"/>
                        </a:rPr>
                        <a:t>Plan A 后融合 (α=0.8)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宋体"/>
                        </a:rPr>
                        <a:t>26.0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00">
                          <a:latin typeface="宋体"/>
                        </a:rPr>
                        <a:t>Plan B 前融合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宋体"/>
                        </a:rPr>
                        <a:t>22.0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0" y="402336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6A34A"/>
                </a:solidFill>
                <a:latin typeface="黑体"/>
              </a:rPr>
              <a:t>▎关键结论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4805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333333"/>
                </a:solidFill>
                <a:latin typeface="宋体"/>
              </a:rPr>
              <a:t>●  代理图虽然含噪声，但提供了有价值的检索信号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333333"/>
                </a:solidFill>
                <a:latin typeface="宋体"/>
              </a:rPr>
              <a:t>●  后融合 (Plan A) 效果最好，+8.0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333333"/>
                </a:solidFill>
                <a:latin typeface="宋体"/>
              </a:rPr>
              <a:t>●  最终方案融合 Plan A + Plan B（前后融合结合）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6400800"/>
            <a:ext cx="11247120" cy="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  <a:latin typeface="宋体"/>
              </a:rPr>
              <a:t>杨昊明  |  同济大学电子与信息工程学院  |  计算机科学与技术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  <a:latin typeface="Times New Roman"/>
              </a:rPr>
              <a:t>12 /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黑体"/>
              </a:rPr>
              <a:t>创新点 ②  |  反幻觉描述精炼（V7 Prompt）</a:t>
            </a:r>
          </a:p>
        </p:txBody>
      </p:sp>
      <p:pic>
        <p:nvPicPr>
          <p:cNvPr id="4" name="Picture 3" descr="fig_prompt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6400800" cy="42569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0" y="1005840"/>
            <a:ext cx="5029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4090"/>
                </a:solidFill>
                <a:latin typeface="黑体"/>
              </a:rPr>
              <a:t>▎V7 核心原则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463040"/>
            <a:ext cx="5029200" cy="2743200"/>
          </a:xfrm>
          <a:prstGeom prst="roundRect">
            <a:avLst/>
          </a:prstGeom>
          <a:solidFill>
            <a:srgbClr val="E8F5E8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1554480"/>
            <a:ext cx="47548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16A34A"/>
                </a:solidFill>
                <a:latin typeface="宋体"/>
              </a:rPr>
              <a:t>「代理图只做诊断，不做描述来源」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201168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>
                <a:solidFill>
                  <a:srgbClr val="333333"/>
                </a:solidFill>
                <a:latin typeface="宋体"/>
              </a:rPr>
              <a:t>●  明确告知：代理图是 AI 生成，含幻觉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333333"/>
                </a:solidFill>
                <a:latin typeface="宋体"/>
              </a:rPr>
              <a:t>●  只允许检查修改是否应用（颜色/物体/属性）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333333"/>
                </a:solidFill>
                <a:latin typeface="宋体"/>
              </a:rPr>
              <a:t>●  禁止复制代理图中的背景、材质、环境细节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333333"/>
                </a:solidFill>
                <a:latin typeface="宋体"/>
              </a:rPr>
              <a:t>●  强制输出简短描述（不超过修改文本长度）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4480560"/>
            <a:ext cx="5029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C82828"/>
                </a:solidFill>
                <a:latin typeface="黑体"/>
              </a:rPr>
              <a:t>▎迭代教训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493776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333333"/>
                </a:solidFill>
                <a:latin typeface="宋体"/>
              </a:rPr>
              <a:t>●  V6 灾难性退化：-17.5 → 信息过多反而有害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333333"/>
                </a:solidFill>
                <a:latin typeface="宋体"/>
              </a:rPr>
              <a:t>●  V7 突破：+6.5 → 限制信息来源比增加信息更重要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333333"/>
                </a:solidFill>
                <a:latin typeface="宋体"/>
              </a:rPr>
              <a:t>●  但 shirt 子集 -4.0 → 需要 Ensemble 救场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6400800"/>
            <a:ext cx="11247120" cy="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  <a:latin typeface="宋体"/>
              </a:rPr>
              <a:t>杨昊明  |  同济大学电子与信息工程学院  |  计算机科学与技术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  <a:latin typeface="Times New Roman"/>
              </a:rPr>
              <a:t>13 /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黑体"/>
              </a:rPr>
              <a:t>创新点 ③  |  描述融合与三路融合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4090"/>
                </a:solidFill>
                <a:latin typeface="黑体"/>
              </a:rPr>
              <a:t>▎为什么要 "融合" 而不是 "替换"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宋体"/>
              </a:rPr>
              <a:t>V7 在某些样本上会过度压缩信息。若直接用 D₂ 替换 D₁，系统性能可能因少量异常样本而整体下降。
解决思路：在 CLIP 特征空间加权平均——即使 D₂ 退化，D₁ 仍占主导，不会退化。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11247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4090"/>
                </a:solidFill>
                <a:latin typeface="黑体"/>
              </a:rPr>
              <a:t>▎两阶段融合公式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926080"/>
            <a:ext cx="5486400" cy="1463040"/>
          </a:xfrm>
          <a:prstGeom prst="roundRect">
            <a:avLst/>
          </a:prstGeom>
          <a:solidFill>
            <a:srgbClr val="E3F2FD"/>
          </a:solidFill>
          <a:ln>
            <a:solidFill>
              <a:srgbClr val="1F4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53035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1F4090"/>
                </a:solidFill>
                <a:latin typeface="宋体"/>
              </a:rPr>
              <a:t>① 描述融合（文本空间）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29000"/>
            <a:ext cx="53035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onsolas"/>
              </a:rPr>
              <a:t>f_text = normalize( β·CLIP(D₁) + (1-β)·CLIP(D₂) 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53035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C82828"/>
                </a:solidFill>
                <a:latin typeface="宋体"/>
              </a:rPr>
              <a:t>β = 0.7（D₁ 占 70%，精炼描述占 30%）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926080"/>
            <a:ext cx="5486400" cy="1463040"/>
          </a:xfrm>
          <a:prstGeom prst="roundRect">
            <a:avLst/>
          </a:prstGeom>
          <a:solidFill>
            <a:srgbClr val="FFE8E8"/>
          </a:solidFill>
          <a:ln>
            <a:solidFill>
              <a:srgbClr val="C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3017520"/>
            <a:ext cx="53035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C82828"/>
                </a:solidFill>
                <a:latin typeface="宋体"/>
              </a:rPr>
              <a:t>② 三路融合（检索得分）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429000"/>
            <a:ext cx="53035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>score = α·sim(f_text, g) + (1-α)·sim(CLIP(P), 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931920"/>
            <a:ext cx="53035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1F4090"/>
                </a:solidFill>
                <a:latin typeface="宋体"/>
              </a:rPr>
              <a:t>α = 0.9（文本 90%，代理图 10% 作为辅助）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663440"/>
            <a:ext cx="11247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4090"/>
                </a:solidFill>
                <a:latin typeface="黑体"/>
              </a:rPr>
              <a:t>▎设计哲学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12064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333333"/>
                </a:solidFill>
                <a:latin typeface="宋体"/>
              </a:rPr>
              <a:t>●  不追求极端提升，追求稳定增益 —— 牺牲 V7 的 +6.5 换来全部 35/35 指标正向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333333"/>
                </a:solidFill>
                <a:latin typeface="宋体"/>
              </a:rPr>
              <a:t>●  β 偏保守（0.7）：以 D₁ 兜底，避免精炼失误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333333"/>
                </a:solidFill>
                <a:latin typeface="宋体"/>
              </a:rPr>
              <a:t>●  α 偏保守（0.9）：代理图含幻觉，只做辅助信号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7200" y="6400800"/>
            <a:ext cx="11247120" cy="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  <a:latin typeface="宋体"/>
              </a:rPr>
              <a:t>杨昊明  |  同济大学电子与信息工程学院  |  计算机科学与技术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  <a:latin typeface="Times New Roman"/>
              </a:rPr>
              <a:t>14 /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011680"/>
            <a:ext cx="121916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Times New Roman"/>
              </a:rPr>
              <a:t>PART 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383280"/>
            <a:ext cx="121916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黑体"/>
              </a:rPr>
              <a:t>实验结果与分析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297680"/>
            <a:ext cx="12191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CFD8E3"/>
                </a:solidFill>
                <a:latin typeface="Times New Roman"/>
              </a:rPr>
              <a:t>Experiments &amp; Analysis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0" y="4937760"/>
            <a:ext cx="210312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黑体"/>
              </a:rPr>
              <a:t>实验设置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4090"/>
                </a:solidFill>
                <a:latin typeface="黑体"/>
              </a:rPr>
              <a:t>▎数据集（4 个基准 × 9 个子任务）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6459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1F4090"/>
                </a:solidFill>
                <a:latin typeface="黑体"/>
              </a:rPr>
              <a:t>FashionIQ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371600"/>
            <a:ext cx="9144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宋体"/>
              </a:rPr>
              <a:t>服饰检索  |  dress / shirt / toptee 三子集  |  gallery 3.6~6.2K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6459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1F4090"/>
                </a:solidFill>
                <a:latin typeface="黑体"/>
              </a:rPr>
              <a:t>CIRCO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783080"/>
            <a:ext cx="9144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宋体"/>
              </a:rPr>
              <a:t>开放域检索  |  220 query  |  gallery 123K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16459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1F4090"/>
                </a:solidFill>
                <a:latin typeface="黑体"/>
              </a:rPr>
              <a:t>CIRR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194560"/>
            <a:ext cx="9144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宋体"/>
              </a:rPr>
              <a:t>自然场景检索  |  4181 query  |  gallery 2297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06040"/>
            <a:ext cx="16459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1F4090"/>
                </a:solidFill>
                <a:latin typeface="黑体"/>
              </a:rPr>
              <a:t>GeneCIS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606040"/>
            <a:ext cx="9144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宋体"/>
              </a:rPr>
              <a:t>条件相似  |  change/focus × object/attribute 四子集  |  局部图库 ~14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00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4090"/>
                </a:solidFill>
                <a:latin typeface="黑体"/>
              </a:rPr>
              <a:t>▎实现细节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657600"/>
            <a:ext cx="2011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黑体"/>
              </a:rPr>
              <a:t>MLLM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657600"/>
            <a:ext cx="9144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宋体"/>
              </a:rPr>
              <a:t>Qwen-VL-Max（替代原论文 GPT-4o，接口可用性原因）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041648"/>
            <a:ext cx="2011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黑体"/>
              </a:rPr>
              <a:t>T2I 模型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041648"/>
            <a:ext cx="9144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宋体"/>
              </a:rPr>
              <a:t>MiniMax image-01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425696"/>
            <a:ext cx="2011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黑体"/>
              </a:rPr>
              <a:t>编码器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425696"/>
            <a:ext cx="9144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宋体"/>
              </a:rPr>
              <a:t>CLIP ViT-L/14（与基线一致）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809744"/>
            <a:ext cx="2011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黑体"/>
              </a:rPr>
              <a:t>默认参数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809744"/>
            <a:ext cx="9144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宋体"/>
              </a:rPr>
              <a:t>β = 0.7，α = 0.9（GeneCIS 采用 task-adaptive）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193792"/>
            <a:ext cx="2011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黑体"/>
              </a:rPr>
              <a:t>运行环境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5193792"/>
            <a:ext cx="9144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宋体"/>
              </a:rPr>
              <a:t>Linux 服务器（描述生成）+ Windows RTX 4060（CLIP 编码）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577840"/>
            <a:ext cx="2011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黑体"/>
              </a:rPr>
              <a:t>评估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5577840"/>
            <a:ext cx="9144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宋体"/>
              </a:rPr>
              <a:t>FIQ/CIRCO/CIRR 用默认参数；GeneCIS 使用专用 prompt + best α/β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6172200"/>
            <a:ext cx="11247120" cy="365760"/>
          </a:xfrm>
          <a:prstGeom prst="roundRect">
            <a:avLst/>
          </a:prstGeom>
          <a:solidFill>
            <a:srgbClr val="FFF7E6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6217920"/>
            <a:ext cx="10972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宋体"/>
              </a:rPr>
              <a:t>⚠ 公平性说明：所有改进与基线均基于同一 Qwen-VL-Max，对比公平；仅绝对数值低于原论文 GPT-4o 结果。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57200" y="6400800"/>
            <a:ext cx="11247120" cy="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  <a:latin typeface="宋体"/>
              </a:rPr>
              <a:t>杨昊明  |  同济大学电子与信息工程学院  |  计算机科学与技术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  <a:latin typeface="Times New Roman"/>
              </a:rPr>
              <a:t>16 /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黑体"/>
              </a:rPr>
              <a:t>主要结果  |  9 个数据集全量实验</a:t>
            </a:r>
          </a:p>
        </p:txBody>
      </p:sp>
      <p:pic>
        <p:nvPicPr>
          <p:cNvPr id="4" name="Picture 3" descr="fig_main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7315200" cy="368623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772400" y="914400"/>
            <a:ext cx="4206240" cy="5394960"/>
          </a:xfrm>
          <a:prstGeom prst="roundRect">
            <a:avLst/>
          </a:prstGeom>
          <a:solidFill>
            <a:srgbClr val="E8F5E8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1051560"/>
            <a:ext cx="39319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6A34A"/>
                </a:solidFill>
                <a:latin typeface="黑体"/>
              </a:rPr>
              <a:t>▎核心结论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1508760"/>
            <a:ext cx="39319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400" b="1">
                <a:solidFill>
                  <a:srgbClr val="16A34A"/>
                </a:solidFill>
                <a:latin typeface="Times New Roman"/>
              </a:rPr>
              <a:t>35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331720"/>
            <a:ext cx="39319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333333"/>
                </a:solidFill>
                <a:latin typeface="宋体"/>
              </a:rPr>
              <a:t>评估指标全部提升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697480"/>
            <a:ext cx="39319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808080"/>
                </a:solidFill>
                <a:latin typeface="宋体"/>
              </a:rPr>
              <a:t>无持平  |  无退化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229600" y="3154680"/>
            <a:ext cx="3291840" cy="0"/>
          </a:xfrm>
          <a:prstGeom prst="line">
            <a:avLst/>
          </a:prstGeom>
          <a:ln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955279" y="3246120"/>
            <a:ext cx="39319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16A34A"/>
                </a:solidFill>
                <a:latin typeface="宋体"/>
              </a:rPr>
              <a:t>亮眼数据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3611880"/>
            <a:ext cx="3931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宋体"/>
              </a:rPr>
              <a:t>●  FIQ dress R@10: 15.80 → 19.29 (+22.1%)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宋体"/>
              </a:rPr>
              <a:t>●  CIRCO mAP@10: 16.21 → 21.26 (+31.2%)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宋体"/>
              </a:rPr>
              <a:t>●  CIRR R@1: 22.96 → 25.90 (+12.8%)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宋体"/>
              </a:rPr>
              <a:t>●  GeneCIS ch_obj R@1: 13.83 → 25.51 (+84.5%)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" y="6400800"/>
            <a:ext cx="11247120" cy="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  <a:latin typeface="宋体"/>
              </a:rPr>
              <a:t>杨昊明  |  同济大学电子与信息工程学院  |  计算机科学与技术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  <a:latin typeface="Times New Roman"/>
              </a:rPr>
              <a:t>17 /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黑体"/>
              </a:rPr>
              <a:t>分数据集分析  |  FashionIQ 与相对提升</a:t>
            </a:r>
          </a:p>
        </p:txBody>
      </p:sp>
      <p:pic>
        <p:nvPicPr>
          <p:cNvPr id="4" name="Picture 3" descr="fig_fashioni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6858000" cy="29022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4023360"/>
            <a:ext cx="6858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808080"/>
                </a:solidFill>
                <a:latin typeface="宋体"/>
              </a:rPr>
              <a:t>图 1: FashionIQ 三子集 R@1/5/10/50</a:t>
            </a:r>
          </a:p>
        </p:txBody>
      </p:sp>
      <p:pic>
        <p:nvPicPr>
          <p:cNvPr id="6" name="Picture 5" descr="fig_rela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868680"/>
            <a:ext cx="4846320" cy="22220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0" y="4023360"/>
            <a:ext cx="48463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808080"/>
                </a:solidFill>
                <a:latin typeface="宋体"/>
              </a:rPr>
              <a:t>图 2: 9 数据集相对提升百分比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4090"/>
                </a:solidFill>
                <a:latin typeface="黑体"/>
              </a:rPr>
              <a:t>▎观察与分析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333333"/>
                </a:solidFill>
                <a:latin typeface="宋体"/>
              </a:rPr>
              <a:t>●  服饰类 (FIQ)：dress/toptee 提升显著 (+18~22%)；shirt 偏保守 (+5.2%) —— 服饰风格变化语义丰富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333333"/>
                </a:solidFill>
                <a:latin typeface="宋体"/>
              </a:rPr>
              <a:t>●  开放域 (CIRCO)：+31.2% 最大相对提升 —— 代理图对复杂语义修改价值最高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333333"/>
                </a:solidFill>
                <a:latin typeface="宋体"/>
              </a:rPr>
              <a:t>●  GeneCIS：+47~85% 相对提升 —— task-adaptive 参数 + 专用 prompt 效果显著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6400800"/>
            <a:ext cx="11247120" cy="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  <a:latin typeface="宋体"/>
              </a:rPr>
              <a:t>杨昊明  |  同济大学电子与信息工程学院  |  计算机科学与技术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  <a:latin typeface="Times New Roman"/>
              </a:rPr>
              <a:t>18 /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黑体"/>
              </a:rPr>
              <a:t>消融实验  |  Prompt 迭代 与 α/β 参数</a:t>
            </a:r>
          </a:p>
        </p:txBody>
      </p:sp>
      <p:pic>
        <p:nvPicPr>
          <p:cNvPr id="4" name="Picture 3" descr="fig_prompt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5669280" cy="377047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3840480"/>
            <a:ext cx="5669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808080"/>
                </a:solidFill>
                <a:latin typeface="宋体"/>
              </a:rPr>
              <a:t>图 3: Prompt 迭代对 CIRR R@10 的影响</a:t>
            </a:r>
          </a:p>
        </p:txBody>
      </p:sp>
      <p:pic>
        <p:nvPicPr>
          <p:cNvPr id="6" name="Picture 5" descr="fig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868680"/>
            <a:ext cx="5943600" cy="27503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26480" y="3840480"/>
            <a:ext cx="5943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808080"/>
                </a:solidFill>
                <a:latin typeface="宋体"/>
              </a:rPr>
              <a:t>图 4: GeneCIS α/β 网格搜索（★ 为最优）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4090"/>
                </a:solidFill>
                <a:latin typeface="黑体"/>
              </a:rPr>
              <a:t>▎消融关键发现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333333"/>
                </a:solidFill>
                <a:latin typeface="宋体"/>
              </a:rPr>
              <a:t>●  Prompt：V6 崩溃（-17.5）vs V7 突破（+6.5）证明 "切断幻觉路径" 比 "增加信息量" 更重要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333333"/>
                </a:solidFill>
                <a:latin typeface="宋体"/>
              </a:rPr>
              <a:t>●  各 GeneCIS 子集偏好差异极大：change_obj (β=0.3 重 D₂) vs focus_obj (β=1.0 弃 D₂)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333333"/>
                </a:solidFill>
                <a:latin typeface="宋体"/>
              </a:rPr>
              <a:t>●  → 说明 "不存在通用最优参数"，task-adaptive 是必要的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6400800"/>
            <a:ext cx="11247120" cy="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  <a:latin typeface="宋体"/>
              </a:rPr>
              <a:t>杨昊明  |  同济大学电子与信息工程学院  |  计算机科学与技术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  <a:latin typeface="Times New Roman"/>
              </a:rPr>
              <a:t>19 /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011680"/>
            <a:ext cx="121916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Times New Roman"/>
              </a:rPr>
              <a:t>PART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383280"/>
            <a:ext cx="121916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黑体"/>
              </a:rPr>
              <a:t>总结与展望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297680"/>
            <a:ext cx="12191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CFD8E3"/>
                </a:solidFill>
                <a:latin typeface="Times New Roman"/>
              </a:rPr>
              <a:t>Conclusion &amp; Future Work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0" y="4937760"/>
            <a:ext cx="210312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黑体"/>
              </a:rPr>
              <a:t>工作总结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5577840" cy="210312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F4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9728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6000" b="1">
                <a:solidFill>
                  <a:srgbClr val="1F4090"/>
                </a:solidFill>
                <a:latin typeface="Times New Roman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234440"/>
            <a:ext cx="38404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333333"/>
                </a:solidFill>
                <a:latin typeface="黑体"/>
              </a:rPr>
              <a:t>提出视觉代理机制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874519"/>
            <a:ext cx="3931920" cy="1188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宋体"/>
              </a:rPr>
              <a:t>首次将 AI 生成代理图同时用于检索信号 + 精炼参照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005840"/>
            <a:ext cx="5577840" cy="210312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143000"/>
            <a:ext cx="109728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6000" b="1">
                <a:solidFill>
                  <a:srgbClr val="16A34A"/>
                </a:solidFill>
                <a:latin typeface="Times New Roman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1234440"/>
            <a:ext cx="38404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333333"/>
                </a:solidFill>
                <a:latin typeface="黑体"/>
              </a:rPr>
              <a:t>设计反幻觉 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1874519"/>
            <a:ext cx="3931920" cy="1188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宋体"/>
              </a:rPr>
              <a:t>V7 原则解决代理图幻觉引入问题，CIRR +6.5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383280"/>
            <a:ext cx="5577840" cy="210312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520440"/>
            <a:ext cx="109728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6000" b="1">
                <a:solidFill>
                  <a:srgbClr val="EA580C"/>
                </a:solidFill>
                <a:latin typeface="Times New Roman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611880"/>
            <a:ext cx="38404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333333"/>
                </a:solidFill>
                <a:latin typeface="黑体"/>
              </a:rPr>
              <a:t>提出描述融合 + 三路融合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4251960"/>
            <a:ext cx="3931920" cy="1188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宋体"/>
              </a:rPr>
              <a:t>统一 α/β 参数化，保证 35/35 指标全部正向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383280"/>
            <a:ext cx="5577840" cy="210312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C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520440"/>
            <a:ext cx="109728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6000" b="1">
                <a:solidFill>
                  <a:srgbClr val="C82828"/>
                </a:solidFill>
                <a:latin typeface="Times New Roman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3611880"/>
            <a:ext cx="38404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333333"/>
                </a:solidFill>
                <a:latin typeface="黑体"/>
              </a:rPr>
              <a:t>GeneCIS 任务自适应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251960"/>
            <a:ext cx="3931920" cy="1188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宋体"/>
              </a:rPr>
              <a:t>专用 prompt + task-adaptive 参数，相对提升 +47~85%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806440"/>
            <a:ext cx="11247120" cy="731520"/>
          </a:xfrm>
          <a:prstGeom prst="roundRect">
            <a:avLst/>
          </a:prstGeom>
          <a:solidFill>
            <a:srgbClr val="1F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897880"/>
            <a:ext cx="112471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黑体"/>
              </a:rPr>
              <a:t>9 个标准任务 × 35 项评估指标 全部正向提升 —— 验证视觉代理 + 描述融合的有效性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57200" y="6400800"/>
            <a:ext cx="11247120" cy="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  <a:latin typeface="宋体"/>
              </a:rPr>
              <a:t>杨昊明  |  同济大学电子与信息工程学院  |  计算机科学与技术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  <a:latin typeface="Times New Roman"/>
              </a:rPr>
              <a:t>21 / 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黑体"/>
              </a:rPr>
              <a:t>未来工作展望</a:t>
            </a:r>
          </a:p>
        </p:txBody>
      </p:sp>
      <p:sp>
        <p:nvSpPr>
          <p:cNvPr id="4" name="Right Arrow 3"/>
          <p:cNvSpPr/>
          <p:nvPr/>
        </p:nvSpPr>
        <p:spPr>
          <a:xfrm>
            <a:off x="457200" y="1280160"/>
            <a:ext cx="640080" cy="640080"/>
          </a:xfrm>
          <a:prstGeom prst="rightArrow">
            <a:avLst/>
          </a:prstGeom>
          <a:solidFill>
            <a:srgbClr val="1F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097280"/>
            <a:ext cx="8229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黑体"/>
              </a:rPr>
              <a:t>查询自适应参数预测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600200"/>
            <a:ext cx="8229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宋体"/>
              </a:rPr>
              <a:t>训练一个轻量预测网络，根据 query 特征自动选择 α/β，减少人工调参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0" y="1325880"/>
            <a:ext cx="1828800" cy="502920"/>
          </a:xfrm>
          <a:prstGeom prst="roundRect">
            <a:avLst/>
          </a:prstGeom>
          <a:solidFill>
            <a:srgbClr val="F5F7FA"/>
          </a:solidFill>
          <a:ln>
            <a:solidFill>
              <a:srgbClr val="1F4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0" y="1417320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1F4090"/>
                </a:solidFill>
                <a:latin typeface="宋体"/>
              </a:rPr>
              <a:t>短期 (1-2 个月)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57200" y="2514600"/>
            <a:ext cx="640080" cy="640080"/>
          </a:xfrm>
          <a:prstGeom prst="rightArrow">
            <a:avLst/>
          </a:prstGeom>
          <a:solidFill>
            <a:srgbClr val="1F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331720"/>
            <a:ext cx="8229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黑体"/>
              </a:rPr>
              <a:t>更强 MLLM 的可扩展性验证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834640"/>
            <a:ext cx="8229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宋体"/>
              </a:rPr>
              <a:t>升级到 GPT-4o / Gemini / Qwen3-VL，观察上限提升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20" y="2560320"/>
            <a:ext cx="1828800" cy="502920"/>
          </a:xfrm>
          <a:prstGeom prst="roundRect">
            <a:avLst/>
          </a:prstGeom>
          <a:solidFill>
            <a:srgbClr val="F5F7FA"/>
          </a:solidFill>
          <a:ln>
            <a:solidFill>
              <a:srgbClr val="1F4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0" y="2651760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1F4090"/>
                </a:solidFill>
                <a:latin typeface="宋体"/>
              </a:rPr>
              <a:t>中期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57200" y="3749040"/>
            <a:ext cx="640080" cy="640080"/>
          </a:xfrm>
          <a:prstGeom prst="rightArrow">
            <a:avLst/>
          </a:prstGeom>
          <a:solidFill>
            <a:srgbClr val="1F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3566160"/>
            <a:ext cx="8229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黑体"/>
              </a:rPr>
              <a:t>多代理图 &amp; 质量过滤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069080"/>
            <a:ext cx="8229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宋体"/>
              </a:rPr>
              <a:t>生成多张代理图并用 CLIP 做质量评估，挑选最可靠的作为辅助信号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75520" y="3794760"/>
            <a:ext cx="1828800" cy="502920"/>
          </a:xfrm>
          <a:prstGeom prst="roundRect">
            <a:avLst/>
          </a:prstGeom>
          <a:solidFill>
            <a:srgbClr val="F5F7FA"/>
          </a:solidFill>
          <a:ln>
            <a:solidFill>
              <a:srgbClr val="1F4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0" y="3886200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1F4090"/>
                </a:solidFill>
                <a:latin typeface="宋体"/>
              </a:rPr>
              <a:t>中期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57200" y="4983480"/>
            <a:ext cx="640080" cy="640080"/>
          </a:xfrm>
          <a:prstGeom prst="rightArrow">
            <a:avLst/>
          </a:prstGeom>
          <a:solidFill>
            <a:srgbClr val="1F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4800600"/>
            <a:ext cx="8229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黑体"/>
              </a:rPr>
              <a:t>扩展到有监督 CIR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303520"/>
            <a:ext cx="8229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宋体"/>
              </a:rPr>
              <a:t>将三路融合框架迁移到监督学习场景，与训练方法结合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75520" y="5029200"/>
            <a:ext cx="1828800" cy="502920"/>
          </a:xfrm>
          <a:prstGeom prst="roundRect">
            <a:avLst/>
          </a:prstGeom>
          <a:solidFill>
            <a:srgbClr val="F5F7FA"/>
          </a:solidFill>
          <a:ln>
            <a:solidFill>
              <a:srgbClr val="1F4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0" y="5120640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1F4090"/>
                </a:solidFill>
                <a:latin typeface="宋体"/>
              </a:rPr>
              <a:t>长期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7200" y="6400800"/>
            <a:ext cx="11247120" cy="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  <a:latin typeface="宋体"/>
              </a:rPr>
              <a:t>杨昊明  |  同济大学电子与信息工程学院  |  计算机科学与技术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  <a:latin typeface="Times New Roman"/>
              </a:rPr>
              <a:t>22 /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2C5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5486400" cy="5486400"/>
          </a:xfrm>
          <a:prstGeom prst="ellipse">
            <a:avLst/>
          </a:prstGeom>
          <a:solidFill>
            <a:srgbClr val="2C5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286000"/>
            <a:ext cx="12191695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0" b="1">
                <a:solidFill>
                  <a:srgbClr val="FFFFFF"/>
                </a:solidFill>
                <a:latin typeface="Times New Roman"/>
              </a:rPr>
              <a:t>Thank 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749039"/>
            <a:ext cx="12191695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黑体"/>
              </a:rPr>
              <a:t>恳请各位老师批评指正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572000"/>
            <a:ext cx="121916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CFD8E3"/>
                </a:solidFill>
                <a:latin typeface="Times New Roman"/>
              </a:rPr>
              <a:t>Q &amp;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0">
                <a:solidFill>
                  <a:srgbClr val="CFD8E3"/>
                </a:solidFill>
                <a:latin typeface="宋体"/>
              </a:rPr>
              <a:t>杨昊明  |  同济大学 电子与信息工程学院  |  计算机科学与技术  |  2026.05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黑体"/>
              </a:rPr>
              <a:t>备用 ①  |  基线复现数值与公平性说明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37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FFFFFF"/>
                </a:solidFill>
                <a:latin typeface="宋体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4090"/>
                </a:solidFill>
                <a:latin typeface="黑体"/>
              </a:rPr>
              <a:t>▎为什么本文 Baseline 低于原论文？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宋体"/>
              </a:rPr>
              <a:t>因 GPT-4o API 不可用，本工作改用 Qwen-VL-Max，MLLM 能力差异导致 baseline 数值偏低。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01168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宋体"/>
                        </a:rPr>
                        <a:t>数据集</a:t>
                      </a:r>
                    </a:p>
                  </a:txBody>
                  <a:tcPr>
                    <a:solidFill>
                      <a:srgbClr val="1F40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宋体"/>
                        </a:rPr>
                        <a:t>主指标</a:t>
                      </a:r>
                    </a:p>
                  </a:txBody>
                  <a:tcPr>
                    <a:solidFill>
                      <a:srgbClr val="1F40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宋体"/>
                        </a:rPr>
                        <a:t>原论文 (GPT-4o)</a:t>
                      </a:r>
                    </a:p>
                  </a:txBody>
                  <a:tcPr>
                    <a:solidFill>
                      <a:srgbClr val="1F40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宋体"/>
                        </a:rPr>
                        <a:t>本工作 Baseline (Qwen-VL)</a:t>
                      </a:r>
                    </a:p>
                  </a:txBody>
                  <a:tcPr>
                    <a:solidFill>
                      <a:srgbClr val="1F40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宋体"/>
                        </a:rPr>
                        <a:t>备注</a:t>
                      </a:r>
                    </a:p>
                  </a:txBody>
                  <a:tcPr>
                    <a:solidFill>
                      <a:srgbClr val="1F409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宋体"/>
                        </a:rPr>
                        <a:t>FIQ 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宋体"/>
                        </a:rPr>
                        <a:t>R@10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宋体"/>
                        </a:rPr>
                        <a:t>29.70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宋体"/>
                        </a:rPr>
                        <a:t>15.80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宋体"/>
                        </a:rPr>
                        <a:t>直接可比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宋体"/>
                        </a:rPr>
                        <a:t>FIQ shirt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宋体"/>
                        </a:rPr>
                        <a:t>R@10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宋体"/>
                        </a:rPr>
                        <a:t>33.17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宋体"/>
                        </a:rPr>
                        <a:t>26.00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宋体"/>
                        </a:rPr>
                        <a:t>直接可比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宋体"/>
                        </a:rPr>
                        <a:t>FIQ toptee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宋体"/>
                        </a:rPr>
                        <a:t>R@10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宋体"/>
                        </a:rPr>
                        <a:t>36.92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宋体"/>
                        </a:rPr>
                        <a:t>23.09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宋体"/>
                        </a:rPr>
                        <a:t>直接可比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宋体"/>
                        </a:rPr>
                        <a:t>CIRR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宋体"/>
                        </a:rPr>
                        <a:t>R@1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宋体"/>
                        </a:rPr>
                        <a:t>29.45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宋体"/>
                        </a:rPr>
                        <a:t>22.96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宋体"/>
                        </a:rPr>
                        <a:t>不同 split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宋体"/>
                        </a:rPr>
                        <a:t>CIRCO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宋体"/>
                        </a:rPr>
                        <a:t>mAP@10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宋体"/>
                        </a:rPr>
                        <a:t>25.33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宋体"/>
                        </a:rPr>
                        <a:t>16.21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宋体"/>
                        </a:rPr>
                        <a:t>不同 split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5029200"/>
            <a:ext cx="11247120" cy="1371600"/>
          </a:xfrm>
          <a:prstGeom prst="roundRect">
            <a:avLst/>
          </a:prstGeom>
          <a:solidFill>
            <a:srgbClr val="E8F5E8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1663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16A34A"/>
                </a:solidFill>
                <a:latin typeface="黑体"/>
              </a:rPr>
              <a:t>▎对比公平性保证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2356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宋体"/>
              </a:rPr>
              <a:t>所有改进方法 (Ensemble/三路融合) 均基于同一 Qwen-VL-Max baseline 进行对比，不存在模型差异。
本工作的提升幅度 (+3.49/+5.05/+2.94 等) 可以作为方法本身有效性的直接证据。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6400800"/>
            <a:ext cx="11247120" cy="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  <a:latin typeface="宋体"/>
              </a:rPr>
              <a:t>杨昊明  |  同济大学电子与信息工程学院  |  计算机科学与技术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  <a:latin typeface="Times New Roman"/>
              </a:rPr>
              <a:t>24 /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黑体"/>
              </a:rPr>
              <a:t>备用 ②  |  9 数据集完整数值表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37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FFFFFF"/>
                </a:solidFill>
                <a:latin typeface="宋体"/>
              </a:rPr>
              <a:t>Backup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914400"/>
          <a:ext cx="1161288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5480"/>
                <a:gridCol w="1935480"/>
                <a:gridCol w="1935480"/>
                <a:gridCol w="1935480"/>
                <a:gridCol w="1935480"/>
                <a:gridCol w="1935480"/>
              </a:tblGrid>
              <a:tr h="48213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宋体"/>
                        </a:rPr>
                        <a:t>数据集</a:t>
                      </a:r>
                    </a:p>
                  </a:txBody>
                  <a:tcPr>
                    <a:solidFill>
                      <a:srgbClr val="1F40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宋体"/>
                        </a:rPr>
                        <a:t>主指标</a:t>
                      </a:r>
                    </a:p>
                  </a:txBody>
                  <a:tcPr>
                    <a:solidFill>
                      <a:srgbClr val="1F40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宋体"/>
                        </a:rPr>
                        <a:t>Baseline</a:t>
                      </a:r>
                    </a:p>
                  </a:txBody>
                  <a:tcPr>
                    <a:solidFill>
                      <a:srgbClr val="1F40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宋体"/>
                        </a:rPr>
                        <a:t>Ensemble</a:t>
                      </a:r>
                    </a:p>
                  </a:txBody>
                  <a:tcPr>
                    <a:solidFill>
                      <a:srgbClr val="1F40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宋体"/>
                        </a:rPr>
                        <a:t>三路融合</a:t>
                      </a:r>
                    </a:p>
                  </a:txBody>
                  <a:tcPr>
                    <a:solidFill>
                      <a:srgbClr val="1F40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宋体"/>
                        </a:rPr>
                        <a:t>绝对提升</a:t>
                      </a:r>
                    </a:p>
                  </a:txBody>
                  <a:tcPr>
                    <a:solidFill>
                      <a:srgbClr val="1F4090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宋体"/>
                        </a:rPr>
                        <a:t>FIQ 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宋体"/>
                        </a:rPr>
                        <a:t>R@10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宋体"/>
                        </a:rPr>
                        <a:t>15.80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宋体"/>
                        </a:rPr>
                        <a:t>18.30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宋体"/>
                        </a:rPr>
                        <a:t>19.29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6A34A"/>
                          </a:solidFill>
                          <a:latin typeface="宋体"/>
                        </a:rPr>
                        <a:t>+3.49</a:t>
                      </a:r>
                    </a:p>
                  </a:txBody>
                  <a:tcPr/>
                </a:tc>
              </a:tr>
              <a:tr h="48213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宋体"/>
                        </a:rPr>
                        <a:t>FIQ shirt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宋体"/>
                        </a:rPr>
                        <a:t>R@10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宋体"/>
                        </a:rPr>
                        <a:t>26.00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宋体"/>
                        </a:rPr>
                        <a:t>27.35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宋体"/>
                        </a:rPr>
                        <a:t>27.35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6A34A"/>
                          </a:solidFill>
                          <a:latin typeface="宋体"/>
                        </a:rPr>
                        <a:t>+1.35</a:t>
                      </a:r>
                    </a:p>
                  </a:txBody>
                  <a:tcPr/>
                </a:tc>
              </a:tr>
              <a:tr h="48213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宋体"/>
                        </a:rPr>
                        <a:t>FIQ toptee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宋体"/>
                        </a:rPr>
                        <a:t>R@10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宋体"/>
                        </a:rPr>
                        <a:t>23.09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宋体"/>
                        </a:rPr>
                        <a:t>26.57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宋体"/>
                        </a:rPr>
                        <a:t>27.35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6A34A"/>
                          </a:solidFill>
                          <a:latin typeface="宋体"/>
                        </a:rPr>
                        <a:t>+4.26</a:t>
                      </a:r>
                    </a:p>
                  </a:txBody>
                  <a:tcPr/>
                </a:tc>
              </a:tr>
              <a:tr h="48213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宋体"/>
                        </a:rPr>
                        <a:t>CIRCO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宋体"/>
                        </a:rPr>
                        <a:t>mAP@5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宋体"/>
                        </a:rPr>
                        <a:t>15.72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宋体"/>
                        </a:rPr>
                        <a:t>18.06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宋体"/>
                        </a:rPr>
                        <a:t>20.36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6A34A"/>
                          </a:solidFill>
                          <a:latin typeface="宋体"/>
                        </a:rPr>
                        <a:t>+4.64</a:t>
                      </a:r>
                    </a:p>
                  </a:txBody>
                  <a:tcPr/>
                </a:tc>
              </a:tr>
              <a:tr h="48213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宋体"/>
                        </a:rPr>
                        <a:t>CIRCO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宋体"/>
                        </a:rPr>
                        <a:t>mAP@10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宋体"/>
                        </a:rPr>
                        <a:t>16.21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宋体"/>
                        </a:rPr>
                        <a:t>18.69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宋体"/>
                        </a:rPr>
                        <a:t>21.26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6A34A"/>
                          </a:solidFill>
                          <a:latin typeface="宋体"/>
                        </a:rPr>
                        <a:t>+5.05</a:t>
                      </a:r>
                    </a:p>
                  </a:txBody>
                  <a:tcPr/>
                </a:tc>
              </a:tr>
              <a:tr h="48213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宋体"/>
                        </a:rPr>
                        <a:t>CIRR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宋体"/>
                        </a:rPr>
                        <a:t>R@1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宋体"/>
                        </a:rPr>
                        <a:t>22.96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宋体"/>
                        </a:rPr>
                        <a:t>25.28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宋体"/>
                        </a:rPr>
                        <a:t>25.90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6A34A"/>
                          </a:solidFill>
                          <a:latin typeface="宋体"/>
                        </a:rPr>
                        <a:t>+2.94</a:t>
                      </a:r>
                    </a:p>
                  </a:txBody>
                  <a:tcPr/>
                </a:tc>
              </a:tr>
              <a:tr h="48213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宋体"/>
                        </a:rPr>
                        <a:t>CIRR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宋体"/>
                        </a:rPr>
                        <a:t>R@5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宋体"/>
                        </a:rPr>
                        <a:t>53.03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宋体"/>
                        </a:rPr>
                        <a:t>56.02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宋体"/>
                        </a:rPr>
                        <a:t>56.28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6A34A"/>
                          </a:solidFill>
                          <a:latin typeface="宋体"/>
                        </a:rPr>
                        <a:t>+3.25</a:t>
                      </a:r>
                    </a:p>
                  </a:txBody>
                  <a:tcPr/>
                </a:tc>
              </a:tr>
              <a:tr h="48213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宋体"/>
                        </a:rPr>
                        <a:t>CIRR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宋体"/>
                        </a:rPr>
                        <a:t>R@10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宋体"/>
                        </a:rPr>
                        <a:t>65.85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宋体"/>
                        </a:rPr>
                        <a:t>68.76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宋体"/>
                        </a:rPr>
                        <a:t>68.72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6A34A"/>
                          </a:solidFill>
                          <a:latin typeface="宋体"/>
                        </a:rPr>
                        <a:t>+2.87</a:t>
                      </a:r>
                    </a:p>
                  </a:txBody>
                  <a:tcPr/>
                </a:tc>
              </a:tr>
              <a:tr h="48213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宋体"/>
                        </a:rPr>
                        <a:t>GeneCIS ch_obj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宋体"/>
                        </a:rPr>
                        <a:t>R@1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宋体"/>
                        </a:rPr>
                        <a:t>13.83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宋体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宋体"/>
                        </a:rPr>
                        <a:t>25.51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6A34A"/>
                          </a:solidFill>
                          <a:latin typeface="宋体"/>
                        </a:rPr>
                        <a:t>+11.68</a:t>
                      </a:r>
                    </a:p>
                  </a:txBody>
                  <a:tcPr/>
                </a:tc>
              </a:tr>
              <a:tr h="4821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宋体"/>
                        </a:rPr>
                        <a:t>GeneCIS fo_attr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宋体"/>
                        </a:rPr>
                        <a:t>R@1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宋体"/>
                        </a:rPr>
                        <a:t>18.82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宋体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宋体"/>
                        </a:rPr>
                        <a:t>27.83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6A34A"/>
                          </a:solidFill>
                          <a:latin typeface="宋体"/>
                        </a:rPr>
                        <a:t>+9.01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6263640"/>
            <a:ext cx="116128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808080"/>
                </a:solidFill>
                <a:latin typeface="宋体"/>
              </a:rPr>
              <a:t>注：完整 35 项指标全部正向提升，详见论文第 4 章及 FINAL_RESULTS.md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400800"/>
            <a:ext cx="11247120" cy="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  <a:latin typeface="宋体"/>
              </a:rPr>
              <a:t>杨昊明  |  同济大学电子与信息工程学院  |  计算机科学与技术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  <a:latin typeface="Times New Roman"/>
              </a:rPr>
              <a:t>25 / 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黑体"/>
              </a:rPr>
              <a:t>备用 ③  |  各模块消融详情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37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FFFFFF"/>
                </a:solidFill>
                <a:latin typeface="宋体"/>
              </a:rPr>
              <a:t>Backup</a:t>
            </a:r>
          </a:p>
        </p:txBody>
      </p:sp>
      <p:pic>
        <p:nvPicPr>
          <p:cNvPr id="5" name="Picture 4" descr="fig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0972800" cy="58367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389120"/>
            <a:ext cx="11247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4090"/>
                </a:solidFill>
                <a:latin typeface="黑体"/>
              </a:rPr>
              <a:t>▎关键观察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333333"/>
                </a:solidFill>
                <a:latin typeface="宋体"/>
              </a:rPr>
              <a:t>●  CIRR 上：V7 单独使用效果最好（73.5），Ensemble 反而回调（69.0）—— 但保证了全局稳定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333333"/>
                </a:solidFill>
                <a:latin typeface="宋体"/>
              </a:rPr>
              <a:t>●  FIQ dress 上：V7 单独使用退化（13.0），Ensemble 修复（18.0）—— 证明 Ensemble 是"救场"设计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333333"/>
                </a:solidFill>
                <a:latin typeface="宋体"/>
              </a:rPr>
              <a:t>●  两个场景趋势完全相反 → 没有 Ensemble 就没有 35/35 指标全部正向的结果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00800"/>
            <a:ext cx="11247120" cy="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  <a:latin typeface="宋体"/>
              </a:rPr>
              <a:t>杨昊明  |  同济大学电子与信息工程学院  |  计算机科学与技术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  <a:latin typeface="Times New Roman"/>
              </a:rPr>
              <a:t>26 /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黑体"/>
              </a:rPr>
              <a:t>备用 ④  |  GeneCIS 专用 Prompt 与 task-adaptive 参数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37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FFFFFF"/>
                </a:solidFill>
                <a:latin typeface="宋体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C82828"/>
                </a:solidFill>
                <a:latin typeface="黑体"/>
              </a:rPr>
              <a:t>▎为什么 GeneCIS 需要特殊处理？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宋体"/>
                        </a:rPr>
                        <a:t>特性</a:t>
                      </a:r>
                    </a:p>
                  </a:txBody>
                  <a:tcPr>
                    <a:solidFill>
                      <a:srgbClr val="C82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宋体"/>
                        </a:rPr>
                        <a:t>FashionIQ / CIRR</a:t>
                      </a:r>
                    </a:p>
                  </a:txBody>
                  <a:tcPr>
                    <a:solidFill>
                      <a:srgbClr val="C82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宋体"/>
                        </a:rPr>
                        <a:t>GeneCIS</a:t>
                      </a:r>
                    </a:p>
                  </a:txBody>
                  <a:tcPr>
                    <a:solidFill>
                      <a:srgbClr val="C8282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宋体"/>
                        </a:rPr>
                        <a:t>修改文本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宋体"/>
                        </a:rPr>
                        <a:t>具体句子 (15-30 词)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宋体"/>
                        </a:rPr>
                        <a:t>仅 1-2 词 (如 'bus','color')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宋体"/>
                        </a:rPr>
                        <a:t>Gallery 大小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宋体"/>
                        </a:rPr>
                        <a:t>几千~几万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宋体"/>
                        </a:rPr>
                        <a:t>仅 ~14 张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宋体"/>
                        </a:rPr>
                        <a:t>检索难度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宋体"/>
                        </a:rPr>
                        <a:t>全局匹配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宋体"/>
                        </a:rPr>
                        <a:t>细粒度区分相似图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6A34A"/>
                </a:solidFill>
                <a:latin typeface="黑体"/>
              </a:rPr>
              <a:t>▎V2 专用 prompt + task-adaptive α/β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749039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宋体"/>
                        </a:rPr>
                        <a:t>子集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宋体"/>
                        </a:rPr>
                        <a:t>最优 β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宋体"/>
                        </a:rPr>
                        <a:t>最优 α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宋体"/>
                        </a:rPr>
                        <a:t>最优 R@1 (+Δ)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宋体"/>
                        </a:rPr>
                        <a:t>change_object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宋体"/>
                        </a:rPr>
                        <a:t>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宋体"/>
                        </a:rPr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6A34A"/>
                          </a:solidFill>
                          <a:latin typeface="宋体"/>
                        </a:rPr>
                        <a:t>25.51 (+11.68)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宋体"/>
                        </a:rPr>
                        <a:t>focus_object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宋体"/>
                        </a:rP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宋体"/>
                        </a:rPr>
                        <a:t>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6A34A"/>
                          </a:solidFill>
                          <a:latin typeface="宋体"/>
                        </a:rPr>
                        <a:t>23.62 (+7.60)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宋体"/>
                        </a:rPr>
                        <a:t>change_attribute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宋体"/>
                        </a:rPr>
                        <a:t>0.80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宋体"/>
                        </a:rPr>
                        <a:t>0.80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6A34A"/>
                          </a:solidFill>
                          <a:latin typeface="宋体"/>
                        </a:rPr>
                        <a:t>21.79 (+9.14)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宋体"/>
                        </a:rPr>
                        <a:t>focus_attribute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宋体"/>
                        </a:rPr>
                        <a:t>0.60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宋体"/>
                        </a:rPr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6A34A"/>
                          </a:solidFill>
                          <a:latin typeface="宋体"/>
                        </a:rPr>
                        <a:t>27.83 (+9.01)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宋体"/>
              </a:rPr>
              <a:t>关键观察：focus_object β=1.0 (弃 D₂) vs change_object β=0.3 (重 D₂)——任务差异极大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6400800"/>
            <a:ext cx="11247120" cy="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  <a:latin typeface="宋体"/>
              </a:rPr>
              <a:t>杨昊明  |  同济大学电子与信息工程学院  |  计算机科学与技术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  <a:latin typeface="Times New Roman"/>
              </a:rPr>
              <a:t>27 /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黑体"/>
              </a:rPr>
              <a:t>备用 ⑤  |  V7 Anti-Hallucination Prompt 具体内容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37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FFFFFF"/>
                </a:solidFill>
                <a:latin typeface="宋体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4090"/>
                </a:solidFill>
                <a:latin typeface="黑体"/>
              </a:rPr>
              <a:t>▎V7 核心原则（完整版）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4846320"/>
          </a:xfrm>
          <a:prstGeom prst="roundRect">
            <a:avLst/>
          </a:prstGeom>
          <a:solidFill>
            <a:srgbClr val="F5F7FA"/>
          </a:solidFill>
          <a:ln>
            <a:solidFill>
              <a:srgbClr val="1F4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>
                <a:solidFill>
                  <a:srgbClr val="333333"/>
                </a:solidFill>
                <a:latin typeface="宋体"/>
              </a:rPr>
              <a:t>●  ① Image 1: 参考图像（Reference）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333333"/>
                </a:solidFill>
                <a:latin typeface="宋体"/>
              </a:rPr>
              <a:t>●  ② Image 2: 代理图像（AI-generated, 含幻觉）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333333"/>
                </a:solidFill>
                <a:latin typeface="宋体"/>
              </a:rPr>
              <a:t>●  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333333"/>
                </a:solidFill>
                <a:latin typeface="宋体"/>
              </a:rPr>
              <a:t>●  【使用规则】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333333"/>
                </a:solidFill>
                <a:latin typeface="宋体"/>
              </a:rPr>
              <a:t>●  ★ 代理图仅用于「检查」修改是否正确: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333333"/>
                </a:solidFill>
                <a:latin typeface="宋体"/>
              </a:rPr>
              <a:t>●    - 颜色/形状是否改变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333333"/>
                </a:solidFill>
                <a:latin typeface="宋体"/>
              </a:rPr>
              <a:t>●    - 是否保留了应保留的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333333"/>
                </a:solidFill>
                <a:latin typeface="宋体"/>
              </a:rPr>
              <a:t>●    - 是否添加了不该加的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333333"/>
                </a:solidFill>
                <a:latin typeface="宋体"/>
              </a:rPr>
              <a:t>●  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333333"/>
                </a:solidFill>
                <a:latin typeface="宋体"/>
              </a:rPr>
              <a:t>●  ★ 禁止：复制代理图细节（背景/材质/环境）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333333"/>
                </a:solidFill>
                <a:latin typeface="宋体"/>
              </a:rPr>
              <a:t>●  ★ 禁止：描述代理图中存在的内容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333333"/>
                </a:solidFill>
                <a:latin typeface="宋体"/>
              </a:rPr>
              <a:t>●  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333333"/>
                </a:solidFill>
                <a:latin typeface="宋体"/>
              </a:rPr>
              <a:t>●  【输出要求】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333333"/>
                </a:solidFill>
                <a:latin typeface="宋体"/>
              </a:rPr>
              <a:t>●  - 输出简短目标描述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333333"/>
                </a:solidFill>
                <a:latin typeface="宋体"/>
              </a:rPr>
              <a:t>●  - 长度不超过修改文本的长度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333333"/>
                </a:solidFill>
                <a:latin typeface="宋体"/>
              </a:rPr>
              <a:t>●  - 仅保留与检索最相关的核心属性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91440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6A34A"/>
                </a:solidFill>
                <a:latin typeface="黑体"/>
              </a:rPr>
              <a:t>▎输出对比（change_object 示例）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486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宋体"/>
              </a:rPr>
              <a:t>修改文本: "donut"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5486400" cy="1097280"/>
          </a:xfrm>
          <a:prstGeom prst="roundRect">
            <a:avLst/>
          </a:prstGeom>
          <a:solidFill>
            <a:srgbClr val="FFE5E5"/>
          </a:solidFill>
          <a:ln>
            <a:solidFill>
              <a:srgbClr val="C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874519"/>
            <a:ext cx="5303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C82828"/>
                </a:solidFill>
                <a:latin typeface="宋体"/>
              </a:rPr>
              <a:t>旧 Prompt (original)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148840"/>
            <a:ext cx="53035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宋体"/>
              </a:rPr>
              <a:t>"A round donut with sprinkles on a wooden table next to a cup of coffee in a sunny café setting." (幻觉细节)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108960"/>
            <a:ext cx="5486400" cy="1005840"/>
          </a:xfrm>
          <a:prstGeom prst="roundRect">
            <a:avLst/>
          </a:prstGeom>
          <a:solidFill>
            <a:srgbClr val="E8F5E8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3154680"/>
            <a:ext cx="5303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宋体"/>
              </a:rPr>
              <a:t>V7 Anti-Hallucination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429000"/>
            <a:ext cx="53035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宋体"/>
              </a:rPr>
              <a:t>"A donut on a plate on the table" (简洁准确)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297680"/>
            <a:ext cx="5486400" cy="1005840"/>
          </a:xfrm>
          <a:prstGeom prst="roundRect">
            <a:avLst/>
          </a:prstGeom>
          <a:solidFill>
            <a:srgbClr val="E3F2FD"/>
          </a:solidFill>
          <a:ln>
            <a:solidFill>
              <a:srgbClr val="1F4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4343400"/>
            <a:ext cx="5303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F4090"/>
                </a:solidFill>
                <a:latin typeface="宋体"/>
              </a:rPr>
              <a:t>V2 GeneCIS 专用 (改 5-12 词要求)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4617720"/>
            <a:ext cx="53035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宋体"/>
              </a:rPr>
              <a:t>"Cinnamon-sugar donut on white plate with teapot" (具体视觉特征)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486400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1F4090"/>
                </a:solidFill>
                <a:latin typeface="黑体"/>
              </a:rPr>
              <a:t>▎结论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85216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宋体"/>
              </a:rPr>
              <a:t>Prompt 设计本质 = 控制 MLLM 输出的信息粒度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7200" y="6400800"/>
            <a:ext cx="11247120" cy="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  <a:latin typeface="宋体"/>
              </a:rPr>
              <a:t>杨昊明  |  同济大学电子与信息工程学院  |  计算机科学与技术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  <a:latin typeface="Times New Roman"/>
              </a:rPr>
              <a:t>28 /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